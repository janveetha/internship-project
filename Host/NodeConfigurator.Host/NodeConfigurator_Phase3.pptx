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47" d="100"/>
          <a:sy n="47" d="100"/>
        </p:scale>
        <p:origin x="1027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E336BB-F62F-6820-8ADA-8A41420A6D3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ABCD9E0-CF4D-E1C9-D5E7-EFA6272B088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069016-1EF8-902F-A82A-E43C1E8CA6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F1E026-7DBD-4234-B88E-03CAAFA10947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EF17B8-4483-EA15-5C51-9DD453AE80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E02DAA-4F14-FCA5-ADEB-F15751FF79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7900B3-12C1-4234-B409-67D6B02F90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07360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8694D4-E38F-4006-7A01-0E7F579710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B0ABC0-3EE6-EABE-2D37-E1056DD1A2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9B6F38-7F77-5E3F-3A01-B5144F84E8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F1E026-7DBD-4234-B88E-03CAAFA10947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A236D7-B203-BFE3-EC72-744FEC54CD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3230E4-3682-B86B-4564-B011038EF1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7900B3-12C1-4234-B409-67D6B02F90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48758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93DA07-E408-3B52-00B7-E351F34029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2242134-0732-AD8F-7C01-E0B5F97987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4FB531-B1AB-0837-A6B7-9EAE66C753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F1E026-7DBD-4234-B88E-03CAAFA10947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3643A0-2AFC-AF0C-006E-B8D345E3E7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66BDF5-5319-725A-0F75-D89B6DEFB0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7900B3-12C1-4234-B409-67D6B02F90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18255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777ABE-9EB4-FD7C-47CA-939311429F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4E1677-FE9C-B6F4-4B1F-454EC26A3C1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67C051D-1D8F-2B74-7268-D9D38344401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E7D9987-EE9E-3FB2-F023-3FC1876544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F1E026-7DBD-4234-B88E-03CAAFA10947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40D1912-36C7-D2A2-9715-29E73A41E0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CFEB31B-04DB-7891-C05B-B422A6DC23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7900B3-12C1-4234-B409-67D6B02F90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71174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446EB3-7FAF-E84F-D20C-5AEF7D353B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1A585CC-AB0B-23F9-F6D4-8F457176BA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950E458-CFDC-E4C5-9057-EF3000C9EB1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455BD22-3AF6-A43D-5DFA-7A3BF954579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F52997C-C2C7-7C7B-083F-6794A85CCAD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DD699D7-F32D-5230-5DEF-6821171572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F1E026-7DBD-4234-B88E-03CAAFA10947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376CE1C-90AB-D751-901B-5A292B3D9A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565CEF9-CB00-73BD-5FC5-B3B8B78352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7900B3-12C1-4234-B409-67D6B02F90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98229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1B94D5-18E1-CAA9-3D6D-DCE818B7FB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91782E8-3006-B166-6CB0-38E1B95914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F1E026-7DBD-4234-B88E-03CAAFA10947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AEF8945-F203-6142-4214-DD1B6BE3DE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E1A94AA-30E9-3D69-076C-65ECE41A9E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7900B3-12C1-4234-B409-67D6B02F90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54221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A0D36AA-14D5-1531-72E7-BD76920E79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F1E026-7DBD-4234-B88E-03CAAFA10947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6DB8165-861A-2E2B-C75F-065AF54269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79957D1-E8BA-A8FC-9309-6378E9BC1F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7900B3-12C1-4234-B409-67D6B02F90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90919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C144D6-EAE9-1A08-B9A5-0BA98FDDA8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9DFE89-C7E4-92AF-2069-37FD3E3C8F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2CF6C0A-FFCF-8552-FB3A-B24C98FFD67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0B59C1B-EED2-A7D2-1747-5943F60E23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F1E026-7DBD-4234-B88E-03CAAFA10947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345073E-4EF7-5A5A-8623-BDCB33574D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C8FCDC1-D3A0-EE36-424F-A881D2094F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7900B3-12C1-4234-B409-67D6B02F90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38416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CB02DE-FE95-F37A-23BD-0DF3CBD3CC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11852D6-CDF2-D4EA-8486-D1190FC8E89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2303F81-EFC7-08E6-7565-37563BD5B89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AC330C1-0DB2-11C3-794F-9573B2C64F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F1E026-7DBD-4234-B88E-03CAAFA10947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2DC005A-EB05-5D0A-4306-657B85E7C0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EFD3A54-E564-0018-7025-F655762F9E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7900B3-12C1-4234-B409-67D6B02F90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26265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9C356C-670E-E23C-A7A9-E2C2D25C35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5D42803-BA10-A01C-AC09-B3E4000556F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A313DF-DC9A-A674-C6DD-1D7100EFDB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F1E026-7DBD-4234-B88E-03CAAFA10947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541B01-F013-3524-79FD-FE1B9FB122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10BDB6-6264-1020-4778-52A376F5C0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7900B3-12C1-4234-B409-67D6B02F90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54127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8E6BD6E-9F51-03E0-24F0-62B4C8D83A4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63271BB-4ED3-B357-DADB-A0976FEB385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E6C230-24BF-EBF8-3D4A-B56BFBBDFF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F1E026-7DBD-4234-B88E-03CAAFA10947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E464DB-9E7A-D527-A252-01C263BB38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C7A08A-DD2C-D61D-6FB4-ACFE72E650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7900B3-12C1-4234-B409-67D6B02F90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25537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B2A53AF-8EDD-985D-4B4A-730A703CC6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32FA2B7-499D-D4C9-9B9F-B5B1565BEDD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8F76E4-F4E1-629C-0276-39782132C1E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EF1E026-7DBD-4234-B88E-03CAAFA10947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923480-19C1-6F70-FE0E-D8B24BC7126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516ABF-E4E9-C263-FBB9-D73CC8A794A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C7900B3-12C1-4234-B409-67D6B02F90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08616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5CB6A06-211E-00C9-1A00-24926054F11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F3864"/>
          </a:solidFill>
          <a:ln w="15875">
            <a:solidFill>
              <a:srgbClr val="1F386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EFBF03A-5E74-B8EB-CD3B-643EE73B96A4}"/>
              </a:ext>
            </a:extLst>
          </p:cNvPr>
          <p:cNvSpPr txBox="1"/>
          <p:nvPr/>
        </p:nvSpPr>
        <p:spPr>
          <a:xfrm>
            <a:off x="762000" y="1905000"/>
            <a:ext cx="10668000" cy="759182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en-US" sz="4600" b="1">
                <a:solidFill>
                  <a:srgbClr val="FFFFFF"/>
                </a:solidFill>
                <a:latin typeface="Segoe UI" panose="020B0502040204020203" pitchFamily="34" charset="0"/>
              </a:rPr>
              <a:t>NodeConfigurator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788229E-7DB4-3654-E06E-194DF7656A21}"/>
              </a:ext>
            </a:extLst>
          </p:cNvPr>
          <p:cNvSpPr txBox="1"/>
          <p:nvPr/>
        </p:nvSpPr>
        <p:spPr>
          <a:xfrm>
            <a:off x="762000" y="2794000"/>
            <a:ext cx="10668000" cy="389850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en-US" sz="2200">
                <a:solidFill>
                  <a:srgbClr val="C8D7EB"/>
                </a:solidFill>
                <a:latin typeface="Segoe UI" panose="020B0502040204020203" pitchFamily="34" charset="0"/>
              </a:rPr>
              <a:t>A Modular Extension Host for .NET MAUI Blazor Hybrid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B5324D8D-58EA-D707-6486-DD9CEEDC275D}"/>
              </a:ext>
            </a:extLst>
          </p:cNvPr>
          <p:cNvSpPr/>
          <p:nvPr/>
        </p:nvSpPr>
        <p:spPr>
          <a:xfrm>
            <a:off x="762000" y="3810000"/>
            <a:ext cx="4572000" cy="558800"/>
          </a:xfrm>
          <a:prstGeom prst="roundRect">
            <a:avLst/>
          </a:prstGeom>
          <a:solidFill>
            <a:srgbClr val="FFFFFF"/>
          </a:solidFill>
          <a:ln w="15875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5875" cap="flat" cmpd="sng" algn="ctr">
                <a:solidFill>
                  <a:srgbClr val="FFFFFF"/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en-US" sz="1600" b="1">
                <a:solidFill>
                  <a:srgbClr val="1F3864"/>
                </a:solidFill>
                <a:latin typeface="Segoe UI" panose="020B0502040204020203" pitchFamily="34" charset="0"/>
              </a:rPr>
              <a:t>Phase 3 - Runtime Plugin Isolation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F08BA61-9658-5013-5063-186A5283572D}"/>
              </a:ext>
            </a:extLst>
          </p:cNvPr>
          <p:cNvSpPr txBox="1"/>
          <p:nvPr/>
        </p:nvSpPr>
        <p:spPr>
          <a:xfrm>
            <a:off x="762000" y="4826000"/>
            <a:ext cx="10668000" cy="251351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en-US" sz="1300">
                <a:solidFill>
                  <a:srgbClr val="BECDE1"/>
                </a:solidFill>
                <a:latin typeface="Segoe UI" panose="020B0502040204020203" pitchFamily="34" charset="0"/>
              </a:rPr>
              <a:t>Blazor Hybrid (.NET MAUI, .NET 10)  -  Razor Class Library extensions  -  in-memory pub/sub event bus  -  System.Text.Json persistence</a:t>
            </a:r>
          </a:p>
        </p:txBody>
      </p:sp>
    </p:spTree>
    <p:extLst>
      <p:ext uri="{BB962C8B-B14F-4D97-AF65-F5344CB8AC3E}">
        <p14:creationId xmlns:p14="http://schemas.microsoft.com/office/powerpoint/2010/main" val="14279487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8BCBD06-C2C8-482C-E1B6-44B831EC70E4}"/>
              </a:ext>
            </a:extLst>
          </p:cNvPr>
          <p:cNvSpPr/>
          <p:nvPr/>
        </p:nvSpPr>
        <p:spPr>
          <a:xfrm>
            <a:off x="0" y="0"/>
            <a:ext cx="12192000" cy="812800"/>
          </a:xfrm>
          <a:prstGeom prst="rect">
            <a:avLst/>
          </a:prstGeom>
          <a:solidFill>
            <a:srgbClr val="1F3864"/>
          </a:solidFill>
          <a:ln w="15875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5875" cap="flat" cmpd="sng" algn="ctr">
                <a:solidFill>
                  <a:srgbClr val="1F3864"/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3412842-E6B5-5A17-2903-3CA1A8A87AB8}"/>
              </a:ext>
            </a:extLst>
          </p:cNvPr>
          <p:cNvSpPr txBox="1"/>
          <p:nvPr/>
        </p:nvSpPr>
        <p:spPr>
          <a:xfrm>
            <a:off x="381000" y="152400"/>
            <a:ext cx="11430000" cy="451406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en-US" sz="2600" b="1">
                <a:solidFill>
                  <a:srgbClr val="FFFFFF"/>
                </a:solidFill>
                <a:latin typeface="Segoe UI" panose="020B0502040204020203" pitchFamily="34" charset="0"/>
              </a:rPr>
              <a:t>The Journey: From Shell to Independently Shippable Plugins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0B204BEE-56B0-BCED-20A7-DB8B64AA51A2}"/>
              </a:ext>
            </a:extLst>
          </p:cNvPr>
          <p:cNvSpPr/>
          <p:nvPr/>
        </p:nvSpPr>
        <p:spPr>
          <a:xfrm>
            <a:off x="762000" y="2667000"/>
            <a:ext cx="3175000" cy="1651000"/>
          </a:xfrm>
          <a:prstGeom prst="roundRect">
            <a:avLst/>
          </a:prstGeom>
          <a:solidFill>
            <a:srgbClr val="D6EAD6"/>
          </a:solidFill>
          <a:ln w="15875">
            <a:solidFill>
              <a:srgbClr val="4CAF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en-US" sz="1600" b="1">
                <a:solidFill>
                  <a:srgbClr val="212121"/>
                </a:solidFill>
                <a:latin typeface="Segoe UI" panose="020B0502040204020203" pitchFamily="34" charset="0"/>
              </a:rPr>
              <a:t>Phase 1
Initial Build
(Demo Done)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B6943277-E86B-F954-96ED-4B2699E0E571}"/>
              </a:ext>
            </a:extLst>
          </p:cNvPr>
          <p:cNvSpPr/>
          <p:nvPr/>
        </p:nvSpPr>
        <p:spPr>
          <a:xfrm>
            <a:off x="4635500" y="2667000"/>
            <a:ext cx="3175000" cy="1651000"/>
          </a:xfrm>
          <a:prstGeom prst="roundRect">
            <a:avLst/>
          </a:prstGeom>
          <a:solidFill>
            <a:srgbClr val="D9EAF7"/>
          </a:solidFill>
          <a:ln w="15875">
            <a:solidFill>
              <a:srgbClr val="2980B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en-US" sz="1600" b="1">
                <a:solidFill>
                  <a:srgbClr val="212121"/>
                </a:solidFill>
                <a:latin typeface="Segoe UI" panose="020B0502040204020203" pitchFamily="34" charset="0"/>
              </a:rPr>
              <a:t>Phase 2
UI Refactor
(Demo Done)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0D6E0B43-0CD6-14BE-D6C4-0B7B6AF1F43F}"/>
              </a:ext>
            </a:extLst>
          </p:cNvPr>
          <p:cNvSpPr/>
          <p:nvPr/>
        </p:nvSpPr>
        <p:spPr>
          <a:xfrm>
            <a:off x="8509000" y="2667000"/>
            <a:ext cx="3175000" cy="1651000"/>
          </a:xfrm>
          <a:prstGeom prst="roundRect">
            <a:avLst/>
          </a:prstGeom>
          <a:solidFill>
            <a:srgbClr val="FDDEBE"/>
          </a:solidFill>
          <a:ln w="15875">
            <a:solidFill>
              <a:srgbClr val="E67E2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en-US" sz="1600" b="1">
                <a:solidFill>
                  <a:srgbClr val="212121"/>
                </a:solidFill>
                <a:latin typeface="Segoe UI" panose="020B0502040204020203" pitchFamily="34" charset="0"/>
              </a:rPr>
              <a:t>Phase 3
Full Extension Isolation
(In Progress)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95403A62-4EFC-CE4D-C9FE-631F44D91A46}"/>
              </a:ext>
            </a:extLst>
          </p:cNvPr>
          <p:cNvCxnSpPr/>
          <p:nvPr/>
        </p:nvCxnSpPr>
        <p:spPr>
          <a:xfrm>
            <a:off x="3937000" y="3492500"/>
            <a:ext cx="698500" cy="0"/>
          </a:xfrm>
          <a:prstGeom prst="line">
            <a:avLst/>
          </a:prstGeom>
          <a:ln w="31750">
            <a:solidFill>
              <a:srgbClr val="787878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FD21671E-528A-EA9E-1A8E-15A91BBDB173}"/>
              </a:ext>
            </a:extLst>
          </p:cNvPr>
          <p:cNvCxnSpPr/>
          <p:nvPr/>
        </p:nvCxnSpPr>
        <p:spPr>
          <a:xfrm>
            <a:off x="7810500" y="3492500"/>
            <a:ext cx="698500" cy="0"/>
          </a:xfrm>
          <a:prstGeom prst="line">
            <a:avLst/>
          </a:prstGeom>
          <a:ln w="31750">
            <a:solidFill>
              <a:srgbClr val="787878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77396DCC-516B-7191-506F-C29F4082E4DB}"/>
              </a:ext>
            </a:extLst>
          </p:cNvPr>
          <p:cNvSpPr txBox="1"/>
          <p:nvPr/>
        </p:nvSpPr>
        <p:spPr>
          <a:xfrm>
            <a:off x="762000" y="1905000"/>
            <a:ext cx="10668000" cy="282129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en-US" sz="1500">
                <a:solidFill>
                  <a:srgbClr val="5A5A5A"/>
                </a:solidFill>
                <a:latin typeface="Segoe UI" panose="020B0502040204020203" pitchFamily="34" charset="0"/>
              </a:rPr>
              <a:t>Same requirements preserved at every step; each phase increases decoupling.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DE1327F-9C3F-522E-7FBD-7825DDDB843D}"/>
              </a:ext>
            </a:extLst>
          </p:cNvPr>
          <p:cNvSpPr txBox="1"/>
          <p:nvPr/>
        </p:nvSpPr>
        <p:spPr>
          <a:xfrm>
            <a:off x="762000" y="4699000"/>
            <a:ext cx="10668000" cy="282129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en-US" sz="1500" b="1">
                <a:solidFill>
                  <a:srgbClr val="1F3864"/>
                </a:solidFill>
                <a:latin typeface="Segoe UI" panose="020B0502040204020203" pitchFamily="34" charset="0"/>
              </a:rPr>
              <a:t>This deck focuses on Phase 3: shipping and loading each extension independently at runtime.</a:t>
            </a:r>
          </a:p>
        </p:txBody>
      </p:sp>
    </p:spTree>
    <p:extLst>
      <p:ext uri="{BB962C8B-B14F-4D97-AF65-F5344CB8AC3E}">
        <p14:creationId xmlns:p14="http://schemas.microsoft.com/office/powerpoint/2010/main" val="22616806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9AEF2AC-2378-1A95-4ACC-389E472E0760}"/>
              </a:ext>
            </a:extLst>
          </p:cNvPr>
          <p:cNvSpPr/>
          <p:nvPr/>
        </p:nvSpPr>
        <p:spPr>
          <a:xfrm>
            <a:off x="0" y="0"/>
            <a:ext cx="12192000" cy="812800"/>
          </a:xfrm>
          <a:prstGeom prst="rect">
            <a:avLst/>
          </a:prstGeom>
          <a:solidFill>
            <a:srgbClr val="1F3864"/>
          </a:solidFill>
          <a:ln w="15875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5875" cap="flat" cmpd="sng" algn="ctr">
                <a:solidFill>
                  <a:srgbClr val="1F3864"/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9386709-7F16-2ECE-5F46-A66FFBE93BD7}"/>
              </a:ext>
            </a:extLst>
          </p:cNvPr>
          <p:cNvSpPr txBox="1"/>
          <p:nvPr/>
        </p:nvSpPr>
        <p:spPr>
          <a:xfrm>
            <a:off x="381000" y="152400"/>
            <a:ext cx="11430000" cy="451406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en-US" sz="2600" b="1">
                <a:solidFill>
                  <a:srgbClr val="FFFFFF"/>
                </a:solidFill>
                <a:latin typeface="Segoe UI" panose="020B0502040204020203" pitchFamily="34" charset="0"/>
              </a:rPr>
              <a:t>Phase 1 and 2 - Summary (Completed)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294DB761-263B-5F3A-2076-5AE32DC21F1D}"/>
              </a:ext>
            </a:extLst>
          </p:cNvPr>
          <p:cNvSpPr/>
          <p:nvPr/>
        </p:nvSpPr>
        <p:spPr>
          <a:xfrm>
            <a:off x="508000" y="1016000"/>
            <a:ext cx="5334000" cy="508000"/>
          </a:xfrm>
          <a:prstGeom prst="roundRect">
            <a:avLst/>
          </a:prstGeom>
          <a:solidFill>
            <a:srgbClr val="D6EAD6"/>
          </a:solidFill>
          <a:ln w="15875">
            <a:solidFill>
              <a:srgbClr val="4CAF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en-US" sz="1600" b="1">
                <a:solidFill>
                  <a:srgbClr val="212121"/>
                </a:solidFill>
                <a:latin typeface="Segoe UI" panose="020B0502040204020203" pitchFamily="34" charset="0"/>
              </a:rPr>
              <a:t>Phase 1 - Initial Build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C92911E-2599-71AC-1283-2675EECCF870}"/>
              </a:ext>
            </a:extLst>
          </p:cNvPr>
          <p:cNvSpPr txBox="1"/>
          <p:nvPr/>
        </p:nvSpPr>
        <p:spPr>
          <a:xfrm>
            <a:off x="635000" y="1625600"/>
            <a:ext cx="5207000" cy="2508379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US" sz="1300">
                <a:solidFill>
                  <a:srgbClr val="212121"/>
                </a:solidFill>
                <a:latin typeface="Segoe UI" panose="020B0502040204020203" pitchFamily="34" charset="0"/>
              </a:rPr>
              <a:t>Extensible shell - host loads multiple independent UI extensions</a:t>
            </a:r>
          </a:p>
          <a:p>
            <a:pPr>
              <a:spcAft>
                <a:spcPts val="600"/>
              </a:spcAft>
            </a:pPr>
            <a:r>
              <a:rPr lang="en-US" sz="1300">
                <a:solidFill>
                  <a:srgbClr val="212121"/>
                </a:solidFill>
                <a:latin typeface="Segoe UI" panose="020B0502040204020203" pitchFamily="34" charset="0"/>
              </a:rPr>
              <a:t>Central Node extension - pick one computer as the central node</a:t>
            </a:r>
          </a:p>
          <a:p>
            <a:pPr>
              <a:spcAft>
                <a:spcPts val="600"/>
              </a:spcAft>
            </a:pPr>
            <a:r>
              <a:rPr lang="en-US" sz="1300">
                <a:solidFill>
                  <a:srgbClr val="212121"/>
                </a:solidFill>
                <a:latin typeface="Segoe UI" panose="020B0502040204020203" pitchFamily="34" charset="0"/>
              </a:rPr>
              <a:t>Identity extension - None / GitHub / EntraID / PingID</a:t>
            </a:r>
          </a:p>
          <a:p>
            <a:pPr>
              <a:spcAft>
                <a:spcPts val="600"/>
              </a:spcAft>
            </a:pPr>
            <a:r>
              <a:rPr lang="en-US" sz="1300">
                <a:solidFill>
                  <a:srgbClr val="212121"/>
                </a:solidFill>
                <a:latin typeface="Segoe UI" panose="020B0502040204020203" pitchFamily="34" charset="0"/>
              </a:rPr>
              <a:t>Mode extension - toggle Connected / Disconnected</a:t>
            </a:r>
          </a:p>
          <a:p>
            <a:pPr>
              <a:spcAft>
                <a:spcPts val="600"/>
              </a:spcAft>
            </a:pPr>
            <a:r>
              <a:rPr lang="en-US" sz="1300">
                <a:solidFill>
                  <a:srgbClr val="212121"/>
                </a:solidFill>
                <a:latin typeface="Segoe UI" panose="020B0502040204020203" pitchFamily="34" charset="0"/>
              </a:rPr>
              <a:t>Single central-node rule - only one node central at a time</a:t>
            </a:r>
          </a:p>
          <a:p>
            <a:pPr>
              <a:spcAft>
                <a:spcPts val="600"/>
              </a:spcAft>
            </a:pPr>
            <a:r>
              <a:rPr lang="en-US" sz="1300">
                <a:solidFill>
                  <a:srgbClr val="212121"/>
                </a:solidFill>
                <a:latin typeface="Segoe UI" panose="020B0502040204020203" pitchFamily="34" charset="0"/>
              </a:rPr>
              <a:t>Cross-extension validation - Connected requires EntraID</a:t>
            </a:r>
          </a:p>
          <a:p>
            <a:pPr>
              <a:spcAft>
                <a:spcPts val="600"/>
              </a:spcAft>
            </a:pPr>
            <a:r>
              <a:rPr lang="en-US" sz="1300">
                <a:solidFill>
                  <a:srgbClr val="212121"/>
                </a:solidFill>
                <a:latin typeface="Segoe UI" panose="020B0502040204020203" pitchFamily="34" charset="0"/>
              </a:rPr>
              <a:t>Persistence to JSON + full state restore on startup</a:t>
            </a:r>
          </a:p>
          <a:p>
            <a:pPr>
              <a:spcAft>
                <a:spcPts val="600"/>
              </a:spcAft>
            </a:pPr>
            <a:r>
              <a:rPr lang="en-US" sz="1300">
                <a:solidFill>
                  <a:srgbClr val="212121"/>
                </a:solidFill>
                <a:latin typeface="Segoe UI" panose="020B0502040204020203" pitchFamily="34" charset="0"/>
              </a:rPr>
              <a:t>Node navigation with aggregated details</a:t>
            </a:r>
          </a:p>
          <a:p>
            <a:pPr>
              <a:spcAft>
                <a:spcPts val="600"/>
              </a:spcAft>
            </a:pPr>
            <a:r>
              <a:rPr lang="en-US" sz="1300">
                <a:solidFill>
                  <a:srgbClr val="212121"/>
                </a:solidFill>
                <a:latin typeface="Segoe UI" panose="020B0502040204020203" pitchFamily="34" charset="0"/>
              </a:rPr>
              <a:t>UI: extensions shown as separate sidebar tabs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646A9A7C-4D6F-C7A1-F69E-E4E96011EE28}"/>
              </a:ext>
            </a:extLst>
          </p:cNvPr>
          <p:cNvSpPr/>
          <p:nvPr/>
        </p:nvSpPr>
        <p:spPr>
          <a:xfrm>
            <a:off x="6096000" y="1016000"/>
            <a:ext cx="5334000" cy="508000"/>
          </a:xfrm>
          <a:prstGeom prst="roundRect">
            <a:avLst/>
          </a:prstGeom>
          <a:solidFill>
            <a:srgbClr val="D9EAF7"/>
          </a:solidFill>
          <a:ln w="15875">
            <a:solidFill>
              <a:srgbClr val="2980B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en-US" sz="1600" b="1">
                <a:solidFill>
                  <a:srgbClr val="212121"/>
                </a:solidFill>
                <a:latin typeface="Segoe UI" panose="020B0502040204020203" pitchFamily="34" charset="0"/>
              </a:rPr>
              <a:t>Phase 2 - UI Refactor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6F8DD68-D304-69B3-E3C4-5AFBEF9E5DE6}"/>
              </a:ext>
            </a:extLst>
          </p:cNvPr>
          <p:cNvSpPr txBox="1"/>
          <p:nvPr/>
        </p:nvSpPr>
        <p:spPr>
          <a:xfrm>
            <a:off x="6223000" y="1625600"/>
            <a:ext cx="5207000" cy="207749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US" sz="1300">
                <a:solidFill>
                  <a:srgbClr val="212121"/>
                </a:solidFill>
                <a:latin typeface="Segoe UI" panose="020B0502040204020203" pitchFamily="34" charset="0"/>
              </a:rPr>
              <a:t>Per-node configuration - central + identity moved onto each node's page</a:t>
            </a:r>
          </a:p>
          <a:p>
            <a:pPr>
              <a:spcAft>
                <a:spcPts val="600"/>
              </a:spcAft>
            </a:pPr>
            <a:r>
              <a:rPr lang="en-US" sz="1300">
                <a:solidFill>
                  <a:srgbClr val="212121"/>
                </a:solidFill>
                <a:latin typeface="Segoe UI" panose="020B0502040204020203" pitchFamily="34" charset="0"/>
              </a:rPr>
              <a:t>Single central-node rule enforced inline - others auto-update</a:t>
            </a:r>
          </a:p>
          <a:p>
            <a:pPr>
              <a:spcAft>
                <a:spcPts val="600"/>
              </a:spcAft>
            </a:pPr>
            <a:r>
              <a:rPr lang="en-US" sz="1300">
                <a:solidFill>
                  <a:srgbClr val="212121"/>
                </a:solidFill>
                <a:latin typeface="Segoe UI" panose="020B0502040204020203" pitchFamily="34" charset="0"/>
              </a:rPr>
              <a:t>Conflict surfaced on the node - Connected-requires-EntraID shown in list</a:t>
            </a:r>
          </a:p>
          <a:p>
            <a:pPr>
              <a:spcAft>
                <a:spcPts val="600"/>
              </a:spcAft>
            </a:pPr>
            <a:r>
              <a:rPr lang="en-US" sz="1300">
                <a:solidFill>
                  <a:srgbClr val="212121"/>
                </a:solidFill>
                <a:latin typeface="Segoe UI" panose="020B0502040204020203" pitchFamily="34" charset="0"/>
              </a:rPr>
              <a:t>Action-based saving - on Save / navigation / close</a:t>
            </a:r>
          </a:p>
          <a:p>
            <a:pPr>
              <a:spcAft>
                <a:spcPts val="600"/>
              </a:spcAft>
            </a:pPr>
            <a:r>
              <a:rPr lang="en-US" sz="1300">
                <a:solidFill>
                  <a:srgbClr val="212121"/>
                </a:solidFill>
                <a:latin typeface="Segoe UI" panose="020B0502040204020203" pitchFamily="34" charset="0"/>
              </a:rPr>
              <a:t>All Phase 1 validation and persistence preserved</a:t>
            </a:r>
          </a:p>
          <a:p>
            <a:pPr>
              <a:spcAft>
                <a:spcPts val="600"/>
              </a:spcAft>
            </a:pPr>
            <a:r>
              <a:rPr lang="en-US" sz="1300">
                <a:solidFill>
                  <a:srgbClr val="212121"/>
                </a:solidFill>
                <a:latin typeface="Segoe UI" panose="020B0502040204020203" pitchFamily="34" charset="0"/>
              </a:rPr>
              <a:t>No behavior lost - purely a clearer UX</a:t>
            </a:r>
          </a:p>
        </p:txBody>
      </p:sp>
    </p:spTree>
    <p:extLst>
      <p:ext uri="{BB962C8B-B14F-4D97-AF65-F5344CB8AC3E}">
        <p14:creationId xmlns:p14="http://schemas.microsoft.com/office/powerpoint/2010/main" val="38616187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3FCF0EA-F9D9-5AEF-5C16-BBFA7923B483}"/>
              </a:ext>
            </a:extLst>
          </p:cNvPr>
          <p:cNvSpPr/>
          <p:nvPr/>
        </p:nvSpPr>
        <p:spPr>
          <a:xfrm>
            <a:off x="0" y="0"/>
            <a:ext cx="12192000" cy="812800"/>
          </a:xfrm>
          <a:prstGeom prst="rect">
            <a:avLst/>
          </a:prstGeom>
          <a:solidFill>
            <a:srgbClr val="1F3864"/>
          </a:solidFill>
          <a:ln w="15875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5875" cap="flat" cmpd="sng" algn="ctr">
                <a:solidFill>
                  <a:srgbClr val="1F3864"/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73A3F17-4EC8-E50F-24C2-C527FB19B836}"/>
              </a:ext>
            </a:extLst>
          </p:cNvPr>
          <p:cNvSpPr txBox="1"/>
          <p:nvPr/>
        </p:nvSpPr>
        <p:spPr>
          <a:xfrm>
            <a:off x="381000" y="152400"/>
            <a:ext cx="11430000" cy="451406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en-US" sz="2600" b="1">
                <a:solidFill>
                  <a:srgbClr val="FFFFFF"/>
                </a:solidFill>
                <a:latin typeface="Segoe UI" panose="020B0502040204020203" pitchFamily="34" charset="0"/>
              </a:rPr>
              <a:t>Phase 3 - Goals: Independently Shippable Extensions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33B1BA9-8DDC-CDC3-C0B5-39229FA1CDA3}"/>
              </a:ext>
            </a:extLst>
          </p:cNvPr>
          <p:cNvSpPr txBox="1"/>
          <p:nvPr/>
        </p:nvSpPr>
        <p:spPr>
          <a:xfrm>
            <a:off x="508000" y="990600"/>
            <a:ext cx="11176000" cy="282129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en-US" sz="1500" b="1">
                <a:solidFill>
                  <a:srgbClr val="1F3864"/>
                </a:solidFill>
                <a:latin typeface="Segoe UI" panose="020B0502040204020203" pitchFamily="34" charset="0"/>
              </a:rPr>
              <a:t>Decouple the system so each extension is built, versioned, and loaded on its own.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EF0F1B70-AD7D-671F-02CC-1AD12085FDF0}"/>
              </a:ext>
            </a:extLst>
          </p:cNvPr>
          <p:cNvSpPr/>
          <p:nvPr/>
        </p:nvSpPr>
        <p:spPr>
          <a:xfrm>
            <a:off x="508000" y="1651000"/>
            <a:ext cx="3619500" cy="2540000"/>
          </a:xfrm>
          <a:prstGeom prst="roundRect">
            <a:avLst/>
          </a:prstGeom>
          <a:solidFill>
            <a:srgbClr val="D9EAF7"/>
          </a:solidFill>
          <a:ln w="15875">
            <a:solidFill>
              <a:srgbClr val="2980B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99A00B1-FA3A-F5E4-E284-0B5AB9082697}"/>
              </a:ext>
            </a:extLst>
          </p:cNvPr>
          <p:cNvSpPr txBox="1"/>
          <p:nvPr/>
        </p:nvSpPr>
        <p:spPr>
          <a:xfrm>
            <a:off x="698500" y="1841500"/>
            <a:ext cx="3238500" cy="297517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en-US" sz="1600" b="1">
                <a:solidFill>
                  <a:srgbClr val="2980B9"/>
                </a:solidFill>
                <a:latin typeface="Segoe UI" panose="020B0502040204020203" pitchFamily="34" charset="0"/>
              </a:rPr>
              <a:t>Independent teams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F576BEB-83BB-3ACD-7C12-0C01CF375109}"/>
              </a:ext>
            </a:extLst>
          </p:cNvPr>
          <p:cNvSpPr txBox="1"/>
          <p:nvPr/>
        </p:nvSpPr>
        <p:spPr>
          <a:xfrm>
            <a:off x="698500" y="2286000"/>
            <a:ext cx="3238500" cy="846386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US" sz="1300">
                <a:solidFill>
                  <a:srgbClr val="212121"/>
                </a:solidFill>
                <a:latin typeface="Segoe UI" panose="020B0502040204020203" pitchFamily="34" charset="0"/>
              </a:rPr>
              <a:t>Each extension in its own repo/folder</a:t>
            </a:r>
          </a:p>
          <a:p>
            <a:pPr>
              <a:spcAft>
                <a:spcPts val="600"/>
              </a:spcAft>
            </a:pPr>
            <a:r>
              <a:rPr lang="en-US" sz="1300">
                <a:solidFill>
                  <a:srgbClr val="212121"/>
                </a:solidFill>
                <a:latin typeface="Segoe UI" panose="020B0502040204020203" pitchFamily="34" charset="0"/>
              </a:rPr>
              <a:t>Its own dependencies and version</a:t>
            </a:r>
          </a:p>
          <a:p>
            <a:pPr>
              <a:spcAft>
                <a:spcPts val="600"/>
              </a:spcAft>
            </a:pPr>
            <a:r>
              <a:rPr lang="en-US" sz="1300">
                <a:solidFill>
                  <a:srgbClr val="212121"/>
                </a:solidFill>
                <a:latin typeface="Segoe UI" panose="020B0502040204020203" pitchFamily="34" charset="0"/>
              </a:rPr>
              <a:t>No shared build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D60E1DAE-B3BB-4985-5B68-AE947C6F3AFB}"/>
              </a:ext>
            </a:extLst>
          </p:cNvPr>
          <p:cNvSpPr/>
          <p:nvPr/>
        </p:nvSpPr>
        <p:spPr>
          <a:xfrm>
            <a:off x="4406900" y="1651000"/>
            <a:ext cx="3619500" cy="2540000"/>
          </a:xfrm>
          <a:prstGeom prst="roundRect">
            <a:avLst/>
          </a:prstGeom>
          <a:solidFill>
            <a:srgbClr val="FDDEBE"/>
          </a:solidFill>
          <a:ln w="15875">
            <a:solidFill>
              <a:srgbClr val="E67E2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1BC64C0-5D91-97FA-4A28-716C2AEE7902}"/>
              </a:ext>
            </a:extLst>
          </p:cNvPr>
          <p:cNvSpPr txBox="1"/>
          <p:nvPr/>
        </p:nvSpPr>
        <p:spPr>
          <a:xfrm>
            <a:off x="4597400" y="1841500"/>
            <a:ext cx="3238500" cy="297517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en-US" sz="1600" b="1">
                <a:solidFill>
                  <a:srgbClr val="E67E22"/>
                </a:solidFill>
                <a:latin typeface="Segoe UI" panose="020B0502040204020203" pitchFamily="34" charset="0"/>
              </a:rPr>
              <a:t>Runtime loading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F3FF8A5-FEB7-7D1F-DCF0-D28C343F3B69}"/>
              </a:ext>
            </a:extLst>
          </p:cNvPr>
          <p:cNvSpPr txBox="1"/>
          <p:nvPr/>
        </p:nvSpPr>
        <p:spPr>
          <a:xfrm>
            <a:off x="4597400" y="2286000"/>
            <a:ext cx="3238500" cy="846386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US" sz="1300">
                <a:solidFill>
                  <a:srgbClr val="212121"/>
                </a:solidFill>
                <a:latin typeface="Segoe UI" panose="020B0502040204020203" pitchFamily="34" charset="0"/>
              </a:rPr>
              <a:t>Host discovers plugins at startup</a:t>
            </a:r>
          </a:p>
          <a:p>
            <a:pPr>
              <a:spcAft>
                <a:spcPts val="600"/>
              </a:spcAft>
            </a:pPr>
            <a:r>
              <a:rPr lang="en-US" sz="1300">
                <a:solidFill>
                  <a:srgbClr val="212121"/>
                </a:solidFill>
                <a:latin typeface="Segoe UI" panose="020B0502040204020203" pitchFamily="34" charset="0"/>
              </a:rPr>
              <a:t>Loaded from C:\plugins\&lt;id&gt;\&lt;version&gt;</a:t>
            </a:r>
          </a:p>
          <a:p>
            <a:pPr>
              <a:spcAft>
                <a:spcPts val="600"/>
              </a:spcAft>
            </a:pPr>
            <a:r>
              <a:rPr lang="en-US" sz="1300">
                <a:solidFill>
                  <a:srgbClr val="212121"/>
                </a:solidFill>
                <a:latin typeface="Segoe UI" panose="020B0502040204020203" pitchFamily="34" charset="0"/>
              </a:rPr>
              <a:t>No compile-time references to plugins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DCE61872-EB3B-276E-E320-7BBDF9343D77}"/>
              </a:ext>
            </a:extLst>
          </p:cNvPr>
          <p:cNvSpPr/>
          <p:nvPr/>
        </p:nvSpPr>
        <p:spPr>
          <a:xfrm>
            <a:off x="8305800" y="1651000"/>
            <a:ext cx="3619500" cy="2540000"/>
          </a:xfrm>
          <a:prstGeom prst="roundRect">
            <a:avLst/>
          </a:prstGeom>
          <a:solidFill>
            <a:srgbClr val="E2D6F0"/>
          </a:solidFill>
          <a:ln w="15875">
            <a:solidFill>
              <a:srgbClr val="8E44A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731041F-1DD5-DAF8-7F78-FFFC0AAB87A2}"/>
              </a:ext>
            </a:extLst>
          </p:cNvPr>
          <p:cNvSpPr txBox="1"/>
          <p:nvPr/>
        </p:nvSpPr>
        <p:spPr>
          <a:xfrm>
            <a:off x="8496300" y="1841500"/>
            <a:ext cx="3238500" cy="297517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en-US" sz="1600" b="1">
                <a:solidFill>
                  <a:srgbClr val="8E44AD"/>
                </a:solidFill>
                <a:latin typeface="Segoe UI" panose="020B0502040204020203" pitchFamily="34" charset="0"/>
              </a:rPr>
              <a:t>Version flexibility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3A968C5-EB5B-A61E-AEF8-977A256A42B0}"/>
              </a:ext>
            </a:extLst>
          </p:cNvPr>
          <p:cNvSpPr txBox="1"/>
          <p:nvPr/>
        </p:nvSpPr>
        <p:spPr>
          <a:xfrm>
            <a:off x="8496300" y="2286000"/>
            <a:ext cx="3238500" cy="846386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US" sz="1300">
                <a:solidFill>
                  <a:srgbClr val="212121"/>
                </a:solidFill>
                <a:latin typeface="Segoe UI" panose="020B0502040204020203" pitchFamily="34" charset="0"/>
              </a:rPr>
              <a:t>Swap extension sets/versions</a:t>
            </a:r>
          </a:p>
          <a:p>
            <a:pPr>
              <a:spcAft>
                <a:spcPts val="600"/>
              </a:spcAft>
            </a:pPr>
            <a:r>
              <a:rPr lang="en-US" sz="1300">
                <a:solidFill>
                  <a:srgbClr val="212121"/>
                </a:solidFill>
                <a:latin typeface="Segoe UI" panose="020B0502040204020203" pitchFamily="34" charset="0"/>
              </a:rPr>
              <a:t>Highest version auto-selected</a:t>
            </a:r>
          </a:p>
          <a:p>
            <a:pPr>
              <a:spcAft>
                <a:spcPts val="600"/>
              </a:spcAft>
            </a:pPr>
            <a:r>
              <a:rPr lang="en-US" sz="1300">
                <a:solidFill>
                  <a:srgbClr val="212121"/>
                </a:solidFill>
                <a:latin typeface="Segoe UI" panose="020B0502040204020203" pitchFamily="34" charset="0"/>
              </a:rPr>
              <a:t>No host recompile required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F881A7C-78EF-77F2-A582-3E1C25E14161}"/>
              </a:ext>
            </a:extLst>
          </p:cNvPr>
          <p:cNvSpPr txBox="1"/>
          <p:nvPr/>
        </p:nvSpPr>
        <p:spPr>
          <a:xfrm>
            <a:off x="508000" y="4508500"/>
            <a:ext cx="11176000" cy="282129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en-US" sz="1500" b="1">
                <a:solidFill>
                  <a:srgbClr val="1F3864"/>
                </a:solidFill>
                <a:latin typeface="Segoe UI" panose="020B0502040204020203" pitchFamily="34" charset="0"/>
              </a:rPr>
              <a:t>Key idea: a thin, stable contract (Abstractions) + one AssemblyLoadContext per plugin.</a:t>
            </a:r>
          </a:p>
        </p:txBody>
      </p:sp>
    </p:spTree>
    <p:extLst>
      <p:ext uri="{BB962C8B-B14F-4D97-AF65-F5344CB8AC3E}">
        <p14:creationId xmlns:p14="http://schemas.microsoft.com/office/powerpoint/2010/main" val="17315254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608CD2B-C96F-0132-90F3-E026A1507323}"/>
              </a:ext>
            </a:extLst>
          </p:cNvPr>
          <p:cNvSpPr/>
          <p:nvPr/>
        </p:nvSpPr>
        <p:spPr>
          <a:xfrm>
            <a:off x="0" y="0"/>
            <a:ext cx="12192000" cy="812800"/>
          </a:xfrm>
          <a:prstGeom prst="rect">
            <a:avLst/>
          </a:prstGeom>
          <a:solidFill>
            <a:srgbClr val="1F3864"/>
          </a:solidFill>
          <a:ln w="15875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5875" cap="flat" cmpd="sng" algn="ctr">
                <a:solidFill>
                  <a:srgbClr val="1F3864"/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6F385ED-5C38-B6F2-8B36-28BD40285CED}"/>
              </a:ext>
            </a:extLst>
          </p:cNvPr>
          <p:cNvSpPr txBox="1"/>
          <p:nvPr/>
        </p:nvSpPr>
        <p:spPr>
          <a:xfrm>
            <a:off x="381000" y="152400"/>
            <a:ext cx="11430000" cy="451406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en-US" sz="2600" b="1">
                <a:solidFill>
                  <a:srgbClr val="FFFFFF"/>
                </a:solidFill>
                <a:latin typeface="Segoe UI" panose="020B0502040204020203" pitchFamily="34" charset="0"/>
              </a:rPr>
              <a:t>Phase 3 - Runtime Plugin Isolation (ALC per Plugin)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77AC10D-B58C-0A35-FA7A-5D9FD328A431}"/>
              </a:ext>
            </a:extLst>
          </p:cNvPr>
          <p:cNvSpPr/>
          <p:nvPr/>
        </p:nvSpPr>
        <p:spPr>
          <a:xfrm>
            <a:off x="381000" y="1206500"/>
            <a:ext cx="2857500" cy="3810000"/>
          </a:xfrm>
          <a:prstGeom prst="rect">
            <a:avLst/>
          </a:prstGeom>
          <a:solidFill>
            <a:srgbClr val="F5F7FA"/>
          </a:solidFill>
          <a:ln w="15875">
            <a:solidFill>
              <a:srgbClr val="5A5A5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08851A7-1133-C7D1-A172-57AED7B97BED}"/>
              </a:ext>
            </a:extLst>
          </p:cNvPr>
          <p:cNvSpPr txBox="1"/>
          <p:nvPr/>
        </p:nvSpPr>
        <p:spPr>
          <a:xfrm>
            <a:off x="381000" y="1282700"/>
            <a:ext cx="2857500" cy="251351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pPr algn="ctr"/>
            <a:r>
              <a:rPr lang="en-US" sz="1300" b="1">
                <a:solidFill>
                  <a:srgbClr val="1F3864"/>
                </a:solidFill>
                <a:latin typeface="Segoe UI" panose="020B0502040204020203" pitchFamily="34" charset="0"/>
              </a:rPr>
              <a:t>Host Solution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A551A3C-27EB-19E3-9018-2F000C615B09}"/>
              </a:ext>
            </a:extLst>
          </p:cNvPr>
          <p:cNvSpPr/>
          <p:nvPr/>
        </p:nvSpPr>
        <p:spPr>
          <a:xfrm>
            <a:off x="571500" y="1714500"/>
            <a:ext cx="2476500" cy="584200"/>
          </a:xfrm>
          <a:prstGeom prst="rect">
            <a:avLst/>
          </a:prstGeom>
          <a:solidFill>
            <a:srgbClr val="FFFFFF"/>
          </a:solidFill>
          <a:ln w="12700">
            <a:solidFill>
              <a:srgbClr val="5A5A5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en-US" sz="1100">
                <a:solidFill>
                  <a:srgbClr val="212121"/>
                </a:solidFill>
                <a:latin typeface="Segoe UI" panose="020B0502040204020203" pitchFamily="34" charset="0"/>
              </a:rPr>
              <a:t>NodeConfigurator.Host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A05306D-4491-0E88-6C55-8ED6C7EE668A}"/>
              </a:ext>
            </a:extLst>
          </p:cNvPr>
          <p:cNvSpPr/>
          <p:nvPr/>
        </p:nvSpPr>
        <p:spPr>
          <a:xfrm>
            <a:off x="571500" y="2451100"/>
            <a:ext cx="2476500" cy="76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5A5A5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en-US" sz="1000">
                <a:solidFill>
                  <a:srgbClr val="212121"/>
                </a:solidFill>
                <a:latin typeface="Segoe UI" panose="020B0502040204020203" pitchFamily="34" charset="0"/>
              </a:rPr>
              <a:t>NodeConfigurator.Core
(PluginLoader, PluginLoadContext)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091088F-9021-6590-013F-1F108DFC2629}"/>
              </a:ext>
            </a:extLst>
          </p:cNvPr>
          <p:cNvSpPr/>
          <p:nvPr/>
        </p:nvSpPr>
        <p:spPr>
          <a:xfrm>
            <a:off x="571500" y="3365500"/>
            <a:ext cx="2476500" cy="76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5A5A5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en-US" sz="1000">
                <a:solidFill>
                  <a:srgbClr val="212121"/>
                </a:solidFill>
                <a:latin typeface="Segoe UI" panose="020B0502040204020203" pitchFamily="34" charset="0"/>
              </a:rPr>
              <a:t>NodeConfigurator.Abstractions
(NuGet)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4E57BA4-030F-AE3B-0A34-14CE8E99C2E8}"/>
              </a:ext>
            </a:extLst>
          </p:cNvPr>
          <p:cNvSpPr/>
          <p:nvPr/>
        </p:nvSpPr>
        <p:spPr>
          <a:xfrm>
            <a:off x="9652000" y="1206500"/>
            <a:ext cx="2286000" cy="3810000"/>
          </a:xfrm>
          <a:prstGeom prst="rect">
            <a:avLst/>
          </a:prstGeom>
          <a:solidFill>
            <a:srgbClr val="F5F7FA"/>
          </a:solidFill>
          <a:ln w="15875">
            <a:solidFill>
              <a:srgbClr val="5A5A5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8A13FAC-A44C-2D7C-0EFB-206172C617DD}"/>
              </a:ext>
            </a:extLst>
          </p:cNvPr>
          <p:cNvSpPr txBox="1"/>
          <p:nvPr/>
        </p:nvSpPr>
        <p:spPr>
          <a:xfrm>
            <a:off x="9652000" y="1282700"/>
            <a:ext cx="2286000" cy="389850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pPr algn="ctr"/>
            <a:r>
              <a:rPr lang="en-US" sz="1100" b="1">
                <a:solidFill>
                  <a:srgbClr val="1F3864"/>
                </a:solidFill>
                <a:latin typeface="Segoe UI" panose="020B0502040204020203" pitchFamily="34" charset="0"/>
              </a:rPr>
              <a:t>Plugin Deployment
Folder: C:\plugins\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C6ADEDA-95CA-740D-0F1D-6571447C01AE}"/>
              </a:ext>
            </a:extLst>
          </p:cNvPr>
          <p:cNvSpPr/>
          <p:nvPr/>
        </p:nvSpPr>
        <p:spPr>
          <a:xfrm>
            <a:off x="9906000" y="1905000"/>
            <a:ext cx="1778000" cy="55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5A5A5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en-US" sz="1100">
                <a:solidFill>
                  <a:srgbClr val="212121"/>
                </a:solidFill>
                <a:latin typeface="Segoe UI" panose="020B0502040204020203" pitchFamily="34" charset="0"/>
              </a:rPr>
              <a:t>identity\1.0.0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9E7DCA6-45F7-BBB9-934C-7C4120B9A83C}"/>
              </a:ext>
            </a:extLst>
          </p:cNvPr>
          <p:cNvSpPr/>
          <p:nvPr/>
        </p:nvSpPr>
        <p:spPr>
          <a:xfrm>
            <a:off x="9906000" y="2730500"/>
            <a:ext cx="1778000" cy="55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5A5A5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en-US" sz="1100">
                <a:solidFill>
                  <a:srgbClr val="212121"/>
                </a:solidFill>
                <a:latin typeface="Segoe UI" panose="020B0502040204020203" pitchFamily="34" charset="0"/>
              </a:rPr>
              <a:t>centralnode\1.0.0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678F65A-FE9E-DD62-9D26-A34097F2BEA6}"/>
              </a:ext>
            </a:extLst>
          </p:cNvPr>
          <p:cNvSpPr/>
          <p:nvPr/>
        </p:nvSpPr>
        <p:spPr>
          <a:xfrm>
            <a:off x="9906000" y="3556000"/>
            <a:ext cx="1778000" cy="55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5A5A5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en-US" sz="1100">
                <a:solidFill>
                  <a:srgbClr val="212121"/>
                </a:solidFill>
                <a:latin typeface="Segoe UI" panose="020B0502040204020203" pitchFamily="34" charset="0"/>
              </a:rPr>
              <a:t>mode\1.0.0</a:t>
            </a:r>
          </a:p>
        </p:txBody>
      </p:sp>
      <p:sp>
        <p:nvSpPr>
          <p:cNvPr id="14" name="Arrow: Right 13">
            <a:extLst>
              <a:ext uri="{FF2B5EF4-FFF2-40B4-BE49-F238E27FC236}">
                <a16:creationId xmlns:a16="http://schemas.microsoft.com/office/drawing/2014/main" id="{AA642EA2-5D77-1C5D-4F37-3F51F66C5D5E}"/>
              </a:ext>
            </a:extLst>
          </p:cNvPr>
          <p:cNvSpPr/>
          <p:nvPr/>
        </p:nvSpPr>
        <p:spPr>
          <a:xfrm>
            <a:off x="3340100" y="1270000"/>
            <a:ext cx="6210300" cy="508000"/>
          </a:xfrm>
          <a:prstGeom prst="rightArrow">
            <a:avLst/>
          </a:prstGeom>
          <a:solidFill>
            <a:srgbClr val="E2E2E2"/>
          </a:solidFill>
          <a:ln w="9525">
            <a:solidFill>
              <a:srgbClr val="78787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76A71AA-67FB-4618-05D1-B65E83C92192}"/>
              </a:ext>
            </a:extLst>
          </p:cNvPr>
          <p:cNvSpPr txBox="1"/>
          <p:nvPr/>
        </p:nvSpPr>
        <p:spPr>
          <a:xfrm>
            <a:off x="3340100" y="990600"/>
            <a:ext cx="6210300" cy="220573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pPr algn="ctr"/>
            <a:r>
              <a:rPr lang="en-US" sz="1100" b="1">
                <a:solidFill>
                  <a:srgbClr val="5A5A5A"/>
                </a:solidFill>
                <a:latin typeface="Segoe UI" panose="020B0502040204020203" pitchFamily="34" charset="0"/>
              </a:rPr>
              <a:t>Runtime Plugin Loader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818A85B-9E0D-93F1-1ED0-316E996276AF}"/>
              </a:ext>
            </a:extLst>
          </p:cNvPr>
          <p:cNvSpPr txBox="1"/>
          <p:nvPr/>
        </p:nvSpPr>
        <p:spPr>
          <a:xfrm>
            <a:off x="3340100" y="1320800"/>
            <a:ext cx="6210300" cy="205184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pPr algn="ctr"/>
            <a:r>
              <a:rPr lang="en-US" sz="1000">
                <a:solidFill>
                  <a:srgbClr val="212121"/>
                </a:solidFill>
                <a:latin typeface="Segoe UI" panose="020B0502040204020203" pitchFamily="34" charset="0"/>
              </a:rPr>
              <a:t>Discover -&gt; Read manifest.json -&gt; Select highest version -&gt; Load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3525D6D-D569-1894-366D-3754A921BA33}"/>
              </a:ext>
            </a:extLst>
          </p:cNvPr>
          <p:cNvSpPr/>
          <p:nvPr/>
        </p:nvSpPr>
        <p:spPr>
          <a:xfrm>
            <a:off x="3683000" y="2222500"/>
            <a:ext cx="1905000" cy="1905000"/>
          </a:xfrm>
          <a:prstGeom prst="rect">
            <a:avLst/>
          </a:prstGeom>
          <a:solidFill>
            <a:srgbClr val="E2E2E2"/>
          </a:solidFill>
          <a:ln w="12700">
            <a:solidFill>
              <a:srgbClr val="78787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980B65E-3CAD-21D2-C8E6-3B77960815E6}"/>
              </a:ext>
            </a:extLst>
          </p:cNvPr>
          <p:cNvSpPr txBox="1"/>
          <p:nvPr/>
        </p:nvSpPr>
        <p:spPr>
          <a:xfrm>
            <a:off x="3683000" y="2286000"/>
            <a:ext cx="1905000" cy="328295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pPr algn="ctr"/>
            <a:r>
              <a:rPr lang="en-US" sz="900" b="1">
                <a:solidFill>
                  <a:srgbClr val="1F3864"/>
                </a:solidFill>
                <a:latin typeface="Segoe UI" panose="020B0502040204020203" pitchFamily="34" charset="0"/>
              </a:rPr>
              <a:t>AssemblyLoadContext:
Plugin:identity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DE21183B-B166-A1B8-6D79-94A0EDE053B6}"/>
              </a:ext>
            </a:extLst>
          </p:cNvPr>
          <p:cNvSpPr/>
          <p:nvPr/>
        </p:nvSpPr>
        <p:spPr>
          <a:xfrm>
            <a:off x="3835400" y="2755900"/>
            <a:ext cx="1600200" cy="558800"/>
          </a:xfrm>
          <a:prstGeom prst="rect">
            <a:avLst/>
          </a:prstGeom>
          <a:solidFill>
            <a:srgbClr val="FFFFFF"/>
          </a:solidFill>
          <a:ln w="9525">
            <a:solidFill>
              <a:srgbClr val="78787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en-US" sz="900">
                <a:solidFill>
                  <a:srgbClr val="212121"/>
                </a:solidFill>
                <a:latin typeface="Segoe UI" panose="020B0502040204020203" pitchFamily="34" charset="0"/>
              </a:rPr>
              <a:t>Plugin Entry Assembly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147E63F3-EC8F-C133-5776-FCF767760F7B}"/>
              </a:ext>
            </a:extLst>
          </p:cNvPr>
          <p:cNvSpPr/>
          <p:nvPr/>
        </p:nvSpPr>
        <p:spPr>
          <a:xfrm>
            <a:off x="3835400" y="3441700"/>
            <a:ext cx="1600200" cy="558800"/>
          </a:xfrm>
          <a:prstGeom prst="rect">
            <a:avLst/>
          </a:prstGeom>
          <a:solidFill>
            <a:srgbClr val="FFFFFF"/>
          </a:solidFill>
          <a:ln w="9525">
            <a:solidFill>
              <a:srgbClr val="78787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en-US" sz="900">
                <a:solidFill>
                  <a:srgbClr val="212121"/>
                </a:solidFill>
                <a:latin typeface="Segoe UI" panose="020B0502040204020203" pitchFamily="34" charset="0"/>
              </a:rPr>
              <a:t>Private Dependencies</a:t>
            </a: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3F42851A-B0DF-9F35-FF49-1C381339F408}"/>
              </a:ext>
            </a:extLst>
          </p:cNvPr>
          <p:cNvCxnSpPr/>
          <p:nvPr/>
        </p:nvCxnSpPr>
        <p:spPr>
          <a:xfrm flipH="1">
            <a:off x="4635500" y="2222500"/>
            <a:ext cx="5016500" cy="0"/>
          </a:xfrm>
          <a:prstGeom prst="line">
            <a:avLst/>
          </a:prstGeom>
          <a:ln w="15875">
            <a:solidFill>
              <a:srgbClr val="787878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ectangle 21">
            <a:extLst>
              <a:ext uri="{FF2B5EF4-FFF2-40B4-BE49-F238E27FC236}">
                <a16:creationId xmlns:a16="http://schemas.microsoft.com/office/drawing/2014/main" id="{29C69D04-8F61-48C3-EAB0-AB80C010712C}"/>
              </a:ext>
            </a:extLst>
          </p:cNvPr>
          <p:cNvSpPr/>
          <p:nvPr/>
        </p:nvSpPr>
        <p:spPr>
          <a:xfrm>
            <a:off x="5842000" y="2222500"/>
            <a:ext cx="1905000" cy="1905000"/>
          </a:xfrm>
          <a:prstGeom prst="rect">
            <a:avLst/>
          </a:prstGeom>
          <a:solidFill>
            <a:srgbClr val="E2E2E2"/>
          </a:solidFill>
          <a:ln w="12700">
            <a:solidFill>
              <a:srgbClr val="78787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E880AEB-7192-4DC6-F7E7-48E5E09F1284}"/>
              </a:ext>
            </a:extLst>
          </p:cNvPr>
          <p:cNvSpPr txBox="1"/>
          <p:nvPr/>
        </p:nvSpPr>
        <p:spPr>
          <a:xfrm>
            <a:off x="5842000" y="2286000"/>
            <a:ext cx="1905000" cy="328295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pPr algn="ctr"/>
            <a:r>
              <a:rPr lang="en-US" sz="900" b="1">
                <a:solidFill>
                  <a:srgbClr val="1F3864"/>
                </a:solidFill>
                <a:latin typeface="Segoe UI" panose="020B0502040204020203" pitchFamily="34" charset="0"/>
              </a:rPr>
              <a:t>AssemblyLoadContext:
Plugin:centralnode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654D2EC7-B874-5716-2945-1CB51B8A4629}"/>
              </a:ext>
            </a:extLst>
          </p:cNvPr>
          <p:cNvSpPr/>
          <p:nvPr/>
        </p:nvSpPr>
        <p:spPr>
          <a:xfrm>
            <a:off x="5994400" y="2755900"/>
            <a:ext cx="1600200" cy="558800"/>
          </a:xfrm>
          <a:prstGeom prst="rect">
            <a:avLst/>
          </a:prstGeom>
          <a:solidFill>
            <a:srgbClr val="FFFFFF"/>
          </a:solidFill>
          <a:ln w="9525">
            <a:solidFill>
              <a:srgbClr val="78787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en-US" sz="900">
                <a:solidFill>
                  <a:srgbClr val="212121"/>
                </a:solidFill>
                <a:latin typeface="Segoe UI" panose="020B0502040204020203" pitchFamily="34" charset="0"/>
              </a:rPr>
              <a:t>Plugin Entry Assembly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19F85690-4F19-BBE2-8703-DFDCB2F0C801}"/>
              </a:ext>
            </a:extLst>
          </p:cNvPr>
          <p:cNvSpPr/>
          <p:nvPr/>
        </p:nvSpPr>
        <p:spPr>
          <a:xfrm>
            <a:off x="5994400" y="3441700"/>
            <a:ext cx="1600200" cy="558800"/>
          </a:xfrm>
          <a:prstGeom prst="rect">
            <a:avLst/>
          </a:prstGeom>
          <a:solidFill>
            <a:srgbClr val="FFFFFF"/>
          </a:solidFill>
          <a:ln w="9525">
            <a:solidFill>
              <a:srgbClr val="78787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en-US" sz="900">
                <a:solidFill>
                  <a:srgbClr val="212121"/>
                </a:solidFill>
                <a:latin typeface="Segoe UI" panose="020B0502040204020203" pitchFamily="34" charset="0"/>
              </a:rPr>
              <a:t>Private Dependencies</a:t>
            </a:r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918D8A03-088D-B51F-E586-95B967295871}"/>
              </a:ext>
            </a:extLst>
          </p:cNvPr>
          <p:cNvCxnSpPr/>
          <p:nvPr/>
        </p:nvCxnSpPr>
        <p:spPr>
          <a:xfrm flipH="1">
            <a:off x="6794500" y="2222500"/>
            <a:ext cx="2857500" cy="0"/>
          </a:xfrm>
          <a:prstGeom prst="line">
            <a:avLst/>
          </a:prstGeom>
          <a:ln w="15875">
            <a:solidFill>
              <a:srgbClr val="787878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ectangle 26">
            <a:extLst>
              <a:ext uri="{FF2B5EF4-FFF2-40B4-BE49-F238E27FC236}">
                <a16:creationId xmlns:a16="http://schemas.microsoft.com/office/drawing/2014/main" id="{3E127E3E-8C0A-97A8-6260-AB30258F7301}"/>
              </a:ext>
            </a:extLst>
          </p:cNvPr>
          <p:cNvSpPr/>
          <p:nvPr/>
        </p:nvSpPr>
        <p:spPr>
          <a:xfrm>
            <a:off x="8001000" y="2222500"/>
            <a:ext cx="1905000" cy="1905000"/>
          </a:xfrm>
          <a:prstGeom prst="rect">
            <a:avLst/>
          </a:prstGeom>
          <a:solidFill>
            <a:srgbClr val="E2E2E2"/>
          </a:solidFill>
          <a:ln w="12700">
            <a:solidFill>
              <a:srgbClr val="78787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E4EC2D1A-E7A7-A42C-D44A-FF00D36972FC}"/>
              </a:ext>
            </a:extLst>
          </p:cNvPr>
          <p:cNvSpPr txBox="1"/>
          <p:nvPr/>
        </p:nvSpPr>
        <p:spPr>
          <a:xfrm>
            <a:off x="8001000" y="2286000"/>
            <a:ext cx="1905000" cy="328295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pPr algn="ctr"/>
            <a:r>
              <a:rPr lang="en-US" sz="900" b="1">
                <a:solidFill>
                  <a:srgbClr val="1F3864"/>
                </a:solidFill>
                <a:latin typeface="Segoe UI" panose="020B0502040204020203" pitchFamily="34" charset="0"/>
              </a:rPr>
              <a:t>AssemblyLoadContext:
Plugin:mode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2EF5606A-8418-1355-26C4-FB5BFA9EF706}"/>
              </a:ext>
            </a:extLst>
          </p:cNvPr>
          <p:cNvSpPr/>
          <p:nvPr/>
        </p:nvSpPr>
        <p:spPr>
          <a:xfrm>
            <a:off x="8153400" y="2755900"/>
            <a:ext cx="1600200" cy="558800"/>
          </a:xfrm>
          <a:prstGeom prst="rect">
            <a:avLst/>
          </a:prstGeom>
          <a:solidFill>
            <a:srgbClr val="FFFFFF"/>
          </a:solidFill>
          <a:ln w="9525">
            <a:solidFill>
              <a:srgbClr val="78787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en-US" sz="900">
                <a:solidFill>
                  <a:srgbClr val="212121"/>
                </a:solidFill>
                <a:latin typeface="Segoe UI" panose="020B0502040204020203" pitchFamily="34" charset="0"/>
              </a:rPr>
              <a:t>Plugin Entry Assembly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814DE700-F8F7-9791-4A0E-4E275DCDA6EA}"/>
              </a:ext>
            </a:extLst>
          </p:cNvPr>
          <p:cNvSpPr/>
          <p:nvPr/>
        </p:nvSpPr>
        <p:spPr>
          <a:xfrm>
            <a:off x="8153400" y="3441700"/>
            <a:ext cx="1600200" cy="558800"/>
          </a:xfrm>
          <a:prstGeom prst="rect">
            <a:avLst/>
          </a:prstGeom>
          <a:solidFill>
            <a:srgbClr val="FFFFFF"/>
          </a:solidFill>
          <a:ln w="9525">
            <a:solidFill>
              <a:srgbClr val="78787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en-US" sz="900">
                <a:solidFill>
                  <a:srgbClr val="212121"/>
                </a:solidFill>
                <a:latin typeface="Segoe UI" panose="020B0502040204020203" pitchFamily="34" charset="0"/>
              </a:rPr>
              <a:t>Private Dependencies</a:t>
            </a:r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E458C413-BF25-5FCE-4083-BEBC8F254372}"/>
              </a:ext>
            </a:extLst>
          </p:cNvPr>
          <p:cNvCxnSpPr/>
          <p:nvPr/>
        </p:nvCxnSpPr>
        <p:spPr>
          <a:xfrm flipH="1">
            <a:off x="8953500" y="2222500"/>
            <a:ext cx="698500" cy="0"/>
          </a:xfrm>
          <a:prstGeom prst="line">
            <a:avLst/>
          </a:prstGeom>
          <a:ln w="15875">
            <a:solidFill>
              <a:srgbClr val="787878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ectangle 31">
            <a:extLst>
              <a:ext uri="{FF2B5EF4-FFF2-40B4-BE49-F238E27FC236}">
                <a16:creationId xmlns:a16="http://schemas.microsoft.com/office/drawing/2014/main" id="{D04768A1-BBC6-9FC9-EDC3-F5014D9DDE98}"/>
              </a:ext>
            </a:extLst>
          </p:cNvPr>
          <p:cNvSpPr/>
          <p:nvPr/>
        </p:nvSpPr>
        <p:spPr>
          <a:xfrm>
            <a:off x="3683000" y="5651500"/>
            <a:ext cx="6223000" cy="431800"/>
          </a:xfrm>
          <a:prstGeom prst="rect">
            <a:avLst/>
          </a:prstGeom>
          <a:solidFill>
            <a:srgbClr val="969696"/>
          </a:solidFill>
          <a:ln w="12700">
            <a:solidFill>
              <a:srgbClr val="6E6E6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en-US" sz="1300" b="1">
                <a:solidFill>
                  <a:srgbClr val="FFFFFF"/>
                </a:solidFill>
                <a:latin typeface="Segoe UI" panose="020B0502040204020203" pitchFamily="34" charset="0"/>
              </a:rPr>
              <a:t>In-memory Pub/Sub Event Bus</a:t>
            </a:r>
          </a:p>
        </p:txBody>
      </p: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C5979B89-A931-F3BD-24DC-A3EBDEFCDB0C}"/>
              </a:ext>
            </a:extLst>
          </p:cNvPr>
          <p:cNvCxnSpPr/>
          <p:nvPr/>
        </p:nvCxnSpPr>
        <p:spPr>
          <a:xfrm>
            <a:off x="4635500" y="4127500"/>
            <a:ext cx="0" cy="1524000"/>
          </a:xfrm>
          <a:prstGeom prst="line">
            <a:avLst/>
          </a:prstGeom>
          <a:ln w="15875">
            <a:solidFill>
              <a:srgbClr val="787878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D2290A32-5E42-A9CB-6B05-4346F73A4971}"/>
              </a:ext>
            </a:extLst>
          </p:cNvPr>
          <p:cNvCxnSpPr/>
          <p:nvPr/>
        </p:nvCxnSpPr>
        <p:spPr>
          <a:xfrm>
            <a:off x="8953500" y="4127500"/>
            <a:ext cx="0" cy="1524000"/>
          </a:xfrm>
          <a:prstGeom prst="line">
            <a:avLst/>
          </a:prstGeom>
          <a:ln w="15875">
            <a:solidFill>
              <a:srgbClr val="787878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BFE4B900-7048-59C5-4FEF-AC40B4D5A93E}"/>
              </a:ext>
            </a:extLst>
          </p:cNvPr>
          <p:cNvCxnSpPr/>
          <p:nvPr/>
        </p:nvCxnSpPr>
        <p:spPr>
          <a:xfrm flipH="1" flipV="1">
            <a:off x="1809750" y="4127500"/>
            <a:ext cx="2825750" cy="1524000"/>
          </a:xfrm>
          <a:prstGeom prst="line">
            <a:avLst/>
          </a:prstGeom>
          <a:ln w="12700">
            <a:solidFill>
              <a:srgbClr val="787878"/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ectangle: Rounded Corners 35">
            <a:extLst>
              <a:ext uri="{FF2B5EF4-FFF2-40B4-BE49-F238E27FC236}">
                <a16:creationId xmlns:a16="http://schemas.microsoft.com/office/drawing/2014/main" id="{0C16A02C-6999-51B8-7880-D4C3A5C5689F}"/>
              </a:ext>
            </a:extLst>
          </p:cNvPr>
          <p:cNvSpPr/>
          <p:nvPr/>
        </p:nvSpPr>
        <p:spPr>
          <a:xfrm>
            <a:off x="254000" y="5143500"/>
            <a:ext cx="3175000" cy="889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5A5A5A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en-US" sz="950">
                <a:solidFill>
                  <a:srgbClr val="212121"/>
                </a:solidFill>
                <a:latin typeface="Segoe UI" panose="020B0502040204020203" pitchFamily="34" charset="0"/>
              </a:rPr>
              <a:t>Boundary (shared): Abstractions + Blazor framework + System.Text.Json + JSInterop</a:t>
            </a:r>
          </a:p>
        </p:txBody>
      </p:sp>
      <p:sp>
        <p:nvSpPr>
          <p:cNvPr id="37" name="Rectangle: Rounded Corners 36">
            <a:extLst>
              <a:ext uri="{FF2B5EF4-FFF2-40B4-BE49-F238E27FC236}">
                <a16:creationId xmlns:a16="http://schemas.microsoft.com/office/drawing/2014/main" id="{74F0EF5D-5D34-32B1-E441-85E9546D0678}"/>
              </a:ext>
            </a:extLst>
          </p:cNvPr>
          <p:cNvSpPr/>
          <p:nvPr/>
        </p:nvSpPr>
        <p:spPr>
          <a:xfrm>
            <a:off x="3683000" y="4318000"/>
            <a:ext cx="4064000" cy="55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7E22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en-US" sz="1000" b="1">
                <a:solidFill>
                  <a:srgbClr val="212121"/>
                </a:solidFill>
                <a:latin typeface="Segoe UI" panose="020B0502040204020203" pitchFamily="34" charset="0"/>
              </a:rPr>
              <a:t>Isolated (per plugin): Newtonsoft.Json, Markdig, etc.</a:t>
            </a:r>
          </a:p>
        </p:txBody>
      </p:sp>
    </p:spTree>
    <p:extLst>
      <p:ext uri="{BB962C8B-B14F-4D97-AF65-F5344CB8AC3E}">
        <p14:creationId xmlns:p14="http://schemas.microsoft.com/office/powerpoint/2010/main" val="88571204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F6CAA2A-0B3F-FC1A-A4C1-0E75E16DD170}"/>
              </a:ext>
            </a:extLst>
          </p:cNvPr>
          <p:cNvSpPr/>
          <p:nvPr/>
        </p:nvSpPr>
        <p:spPr>
          <a:xfrm>
            <a:off x="0" y="0"/>
            <a:ext cx="12192000" cy="812800"/>
          </a:xfrm>
          <a:prstGeom prst="rect">
            <a:avLst/>
          </a:prstGeom>
          <a:solidFill>
            <a:srgbClr val="1F3864"/>
          </a:solidFill>
          <a:ln w="15875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5875" cap="flat" cmpd="sng" algn="ctr">
                <a:solidFill>
                  <a:srgbClr val="1F3864"/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D26A456-0811-92EE-1EAB-8E221D81C892}"/>
              </a:ext>
            </a:extLst>
          </p:cNvPr>
          <p:cNvSpPr txBox="1"/>
          <p:nvPr/>
        </p:nvSpPr>
        <p:spPr>
          <a:xfrm>
            <a:off x="381000" y="152400"/>
            <a:ext cx="11430000" cy="451406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en-US" sz="2600" b="1">
                <a:solidFill>
                  <a:srgbClr val="FFFFFF"/>
                </a:solidFill>
                <a:latin typeface="Segoe UI" panose="020B0502040204020203" pitchFamily="34" charset="0"/>
              </a:rPr>
              <a:t>How Plugin Loading Works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41E7BBA9-EBB2-6E78-AAAC-C3FC319C8C83}"/>
              </a:ext>
            </a:extLst>
          </p:cNvPr>
          <p:cNvSpPr/>
          <p:nvPr/>
        </p:nvSpPr>
        <p:spPr>
          <a:xfrm>
            <a:off x="508000" y="1524000"/>
            <a:ext cx="2540000" cy="609600"/>
          </a:xfrm>
          <a:prstGeom prst="roundRect">
            <a:avLst/>
          </a:prstGeom>
          <a:solidFill>
            <a:srgbClr val="D9EAF7"/>
          </a:solidFill>
          <a:ln w="12700">
            <a:solidFill>
              <a:srgbClr val="2980B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en-US" sz="1300" b="1">
                <a:solidFill>
                  <a:srgbClr val="212121"/>
                </a:solidFill>
                <a:latin typeface="Segoe UI" panose="020B0502040204020203" pitchFamily="34" charset="0"/>
              </a:rPr>
              <a:t>1. Discover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368C8592-3029-30E8-5331-9EDA8C1461A7}"/>
              </a:ext>
            </a:extLst>
          </p:cNvPr>
          <p:cNvCxnSpPr/>
          <p:nvPr/>
        </p:nvCxnSpPr>
        <p:spPr>
          <a:xfrm>
            <a:off x="1778000" y="2133600"/>
            <a:ext cx="0" cy="279400"/>
          </a:xfrm>
          <a:prstGeom prst="line">
            <a:avLst/>
          </a:prstGeom>
          <a:ln w="19050">
            <a:solidFill>
              <a:srgbClr val="2980B9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FB2E9932-CE5A-C683-4A5C-BF39DCDBDF2C}"/>
              </a:ext>
            </a:extLst>
          </p:cNvPr>
          <p:cNvSpPr/>
          <p:nvPr/>
        </p:nvSpPr>
        <p:spPr>
          <a:xfrm>
            <a:off x="508000" y="2413000"/>
            <a:ext cx="2540000" cy="609600"/>
          </a:xfrm>
          <a:prstGeom prst="roundRect">
            <a:avLst/>
          </a:prstGeom>
          <a:solidFill>
            <a:srgbClr val="D9EAF7"/>
          </a:solidFill>
          <a:ln w="12700">
            <a:solidFill>
              <a:srgbClr val="2980B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en-US" sz="1300" b="1">
                <a:solidFill>
                  <a:srgbClr val="212121"/>
                </a:solidFill>
                <a:latin typeface="Segoe UI" panose="020B0502040204020203" pitchFamily="34" charset="0"/>
              </a:rPr>
              <a:t>2. Read manifest.json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A00E18E-CCC6-B162-7446-35FE55C6264A}"/>
              </a:ext>
            </a:extLst>
          </p:cNvPr>
          <p:cNvCxnSpPr/>
          <p:nvPr/>
        </p:nvCxnSpPr>
        <p:spPr>
          <a:xfrm>
            <a:off x="1778000" y="3022600"/>
            <a:ext cx="0" cy="279400"/>
          </a:xfrm>
          <a:prstGeom prst="line">
            <a:avLst/>
          </a:prstGeom>
          <a:ln w="19050">
            <a:solidFill>
              <a:srgbClr val="2980B9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C8D3FFFB-CA0F-26B3-85A1-8E4D207CB577}"/>
              </a:ext>
            </a:extLst>
          </p:cNvPr>
          <p:cNvSpPr/>
          <p:nvPr/>
        </p:nvSpPr>
        <p:spPr>
          <a:xfrm>
            <a:off x="508000" y="3302000"/>
            <a:ext cx="2540000" cy="609600"/>
          </a:xfrm>
          <a:prstGeom prst="roundRect">
            <a:avLst/>
          </a:prstGeom>
          <a:solidFill>
            <a:srgbClr val="D9EAF7"/>
          </a:solidFill>
          <a:ln w="12700">
            <a:solidFill>
              <a:srgbClr val="2980B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en-US" sz="1300" b="1">
                <a:solidFill>
                  <a:srgbClr val="212121"/>
                </a:solidFill>
                <a:latin typeface="Segoe UI" panose="020B0502040204020203" pitchFamily="34" charset="0"/>
              </a:rPr>
              <a:t>3. Select highest version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FCBC428-D0AF-BE45-B9B2-2D730AB7FA3C}"/>
              </a:ext>
            </a:extLst>
          </p:cNvPr>
          <p:cNvCxnSpPr/>
          <p:nvPr/>
        </p:nvCxnSpPr>
        <p:spPr>
          <a:xfrm>
            <a:off x="1778000" y="3911600"/>
            <a:ext cx="0" cy="279400"/>
          </a:xfrm>
          <a:prstGeom prst="line">
            <a:avLst/>
          </a:prstGeom>
          <a:ln w="19050">
            <a:solidFill>
              <a:srgbClr val="2980B9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89F33C06-45D8-C34D-1093-9969EB93D8B2}"/>
              </a:ext>
            </a:extLst>
          </p:cNvPr>
          <p:cNvSpPr/>
          <p:nvPr/>
        </p:nvSpPr>
        <p:spPr>
          <a:xfrm>
            <a:off x="4572000" y="4191000"/>
            <a:ext cx="2540000" cy="609600"/>
          </a:xfrm>
          <a:prstGeom prst="roundRect">
            <a:avLst/>
          </a:prstGeom>
          <a:solidFill>
            <a:srgbClr val="D9EAF7"/>
          </a:solidFill>
          <a:ln w="12700">
            <a:solidFill>
              <a:srgbClr val="2980B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en-US" sz="1300" b="1">
                <a:solidFill>
                  <a:srgbClr val="212121"/>
                </a:solidFill>
                <a:latin typeface="Segoe UI" panose="020B0502040204020203" pitchFamily="34" charset="0"/>
              </a:rPr>
              <a:t>4. Create ALC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BDB8ABB7-E73D-F652-5B9F-980F3EC451FD}"/>
              </a:ext>
            </a:extLst>
          </p:cNvPr>
          <p:cNvSpPr/>
          <p:nvPr/>
        </p:nvSpPr>
        <p:spPr>
          <a:xfrm>
            <a:off x="4572000" y="1524000"/>
            <a:ext cx="2540000" cy="609600"/>
          </a:xfrm>
          <a:prstGeom prst="roundRect">
            <a:avLst/>
          </a:prstGeom>
          <a:solidFill>
            <a:srgbClr val="D9EAF7"/>
          </a:solidFill>
          <a:ln w="12700">
            <a:solidFill>
              <a:srgbClr val="2980B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en-US" sz="1300" b="1">
                <a:solidFill>
                  <a:srgbClr val="212121"/>
                </a:solidFill>
                <a:latin typeface="Segoe UI" panose="020B0502040204020203" pitchFamily="34" charset="0"/>
              </a:rPr>
              <a:t>5. Resolve deps (.deps.json)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331642CB-A5A1-2B01-6ECF-CC6ED5B80828}"/>
              </a:ext>
            </a:extLst>
          </p:cNvPr>
          <p:cNvCxnSpPr/>
          <p:nvPr/>
        </p:nvCxnSpPr>
        <p:spPr>
          <a:xfrm>
            <a:off x="5842000" y="2133600"/>
            <a:ext cx="0" cy="279400"/>
          </a:xfrm>
          <a:prstGeom prst="line">
            <a:avLst/>
          </a:prstGeom>
          <a:ln w="19050">
            <a:solidFill>
              <a:srgbClr val="2980B9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8637BD97-A017-A8C8-F806-898E99DACF97}"/>
              </a:ext>
            </a:extLst>
          </p:cNvPr>
          <p:cNvSpPr/>
          <p:nvPr/>
        </p:nvSpPr>
        <p:spPr>
          <a:xfrm>
            <a:off x="4572000" y="2413000"/>
            <a:ext cx="2540000" cy="609600"/>
          </a:xfrm>
          <a:prstGeom prst="roundRect">
            <a:avLst/>
          </a:prstGeom>
          <a:solidFill>
            <a:srgbClr val="D9EAF7"/>
          </a:solidFill>
          <a:ln w="12700">
            <a:solidFill>
              <a:srgbClr val="2980B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en-US" sz="1300" b="1">
                <a:solidFill>
                  <a:srgbClr val="212121"/>
                </a:solidFill>
                <a:latin typeface="Segoe UI" panose="020B0502040204020203" pitchFamily="34" charset="0"/>
              </a:rPr>
              <a:t>6. Load entry assembly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917014FE-050B-CF04-EE66-BC8D1F246A9C}"/>
              </a:ext>
            </a:extLst>
          </p:cNvPr>
          <p:cNvCxnSpPr/>
          <p:nvPr/>
        </p:nvCxnSpPr>
        <p:spPr>
          <a:xfrm>
            <a:off x="5842000" y="3022600"/>
            <a:ext cx="0" cy="279400"/>
          </a:xfrm>
          <a:prstGeom prst="line">
            <a:avLst/>
          </a:prstGeom>
          <a:ln w="19050">
            <a:solidFill>
              <a:srgbClr val="2980B9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FCA9D34C-9F9A-74FC-99BB-90F179732906}"/>
              </a:ext>
            </a:extLst>
          </p:cNvPr>
          <p:cNvSpPr/>
          <p:nvPr/>
        </p:nvSpPr>
        <p:spPr>
          <a:xfrm>
            <a:off x="8636000" y="3302000"/>
            <a:ext cx="2540000" cy="609600"/>
          </a:xfrm>
          <a:prstGeom prst="roundRect">
            <a:avLst/>
          </a:prstGeom>
          <a:solidFill>
            <a:srgbClr val="D9EAF7"/>
          </a:solidFill>
          <a:ln w="12700">
            <a:solidFill>
              <a:srgbClr val="2980B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en-US" sz="1300" b="1">
                <a:solidFill>
                  <a:srgbClr val="212121"/>
                </a:solidFill>
                <a:latin typeface="Segoe UI" panose="020B0502040204020203" pitchFamily="34" charset="0"/>
              </a:rPr>
              <a:t>7. Instantiate IExtension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1CABF11C-44E2-3159-2A7B-3A7E2F903AFC}"/>
              </a:ext>
            </a:extLst>
          </p:cNvPr>
          <p:cNvCxnSpPr/>
          <p:nvPr/>
        </p:nvCxnSpPr>
        <p:spPr>
          <a:xfrm>
            <a:off x="9906000" y="3911600"/>
            <a:ext cx="0" cy="279400"/>
          </a:xfrm>
          <a:prstGeom prst="line">
            <a:avLst/>
          </a:prstGeom>
          <a:ln w="19050">
            <a:solidFill>
              <a:srgbClr val="2980B9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D68B92FF-901F-BC8A-CB90-82D9494B324B}"/>
              </a:ext>
            </a:extLst>
          </p:cNvPr>
          <p:cNvSpPr/>
          <p:nvPr/>
        </p:nvSpPr>
        <p:spPr>
          <a:xfrm>
            <a:off x="8636000" y="4191000"/>
            <a:ext cx="2540000" cy="609600"/>
          </a:xfrm>
          <a:prstGeom prst="roundRect">
            <a:avLst/>
          </a:prstGeom>
          <a:solidFill>
            <a:srgbClr val="D9EAF7"/>
          </a:solidFill>
          <a:ln w="12700">
            <a:solidFill>
              <a:srgbClr val="2980B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en-US" sz="1300" b="1">
                <a:solidFill>
                  <a:srgbClr val="212121"/>
                </a:solidFill>
                <a:latin typeface="Segoe UI" panose="020B0502040204020203" pitchFamily="34" charset="0"/>
              </a:rPr>
              <a:t>8. Register + render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8F0E8B4C-2410-123E-56F4-F43489E2CAC9}"/>
              </a:ext>
            </a:extLst>
          </p:cNvPr>
          <p:cNvCxnSpPr/>
          <p:nvPr/>
        </p:nvCxnSpPr>
        <p:spPr>
          <a:xfrm>
            <a:off x="3048000" y="1828800"/>
            <a:ext cx="1524000" cy="0"/>
          </a:xfrm>
          <a:prstGeom prst="line">
            <a:avLst/>
          </a:prstGeom>
          <a:ln w="19050">
            <a:solidFill>
              <a:srgbClr val="2980B9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EE2D072E-638A-9A7B-A77B-34D074C9D10F}"/>
              </a:ext>
            </a:extLst>
          </p:cNvPr>
          <p:cNvSpPr txBox="1"/>
          <p:nvPr/>
        </p:nvSpPr>
        <p:spPr>
          <a:xfrm>
            <a:off x="7366000" y="1651000"/>
            <a:ext cx="4064000" cy="220060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US" sz="1300">
                <a:solidFill>
                  <a:srgbClr val="212121"/>
                </a:solidFill>
                <a:latin typeface="Segoe UI" panose="020B0502040204020203" pitchFamily="34" charset="0"/>
              </a:rPr>
              <a:t>Each plugin -&gt; its own PluginLoadContext (collectible ALC)</a:t>
            </a:r>
          </a:p>
          <a:p>
            <a:pPr>
              <a:spcAft>
                <a:spcPts val="600"/>
              </a:spcAft>
            </a:pPr>
            <a:r>
              <a:rPr lang="en-US" sz="1300">
                <a:solidFill>
                  <a:srgbClr val="212121"/>
                </a:solidFill>
                <a:latin typeface="Segoe UI" panose="020B0502040204020203" pitchFamily="34" charset="0"/>
              </a:rPr>
              <a:t>Boundary assemblies resolve from the host (single type identity)</a:t>
            </a:r>
          </a:p>
          <a:p>
            <a:pPr>
              <a:spcAft>
                <a:spcPts val="600"/>
              </a:spcAft>
            </a:pPr>
            <a:r>
              <a:rPr lang="en-US" sz="1300">
                <a:solidFill>
                  <a:srgbClr val="212121"/>
                </a:solidFill>
                <a:latin typeface="Segoe UI" panose="020B0502040204020203" pitchFamily="34" charset="0"/>
              </a:rPr>
              <a:t>Everything else loads from the plugin folder</a:t>
            </a:r>
          </a:p>
          <a:p>
            <a:pPr>
              <a:spcAft>
                <a:spcPts val="600"/>
              </a:spcAft>
            </a:pPr>
            <a:r>
              <a:rPr lang="en-US" sz="1300">
                <a:solidFill>
                  <a:srgbClr val="212121"/>
                </a:solidFill>
                <a:latin typeface="Segoe UI" panose="020B0502040204020203" pitchFamily="34" charset="0"/>
              </a:rPr>
              <a:t>One bad plugin is logged and skipped (ContinueOnError)</a:t>
            </a:r>
          </a:p>
          <a:p>
            <a:pPr>
              <a:spcAft>
                <a:spcPts val="600"/>
              </a:spcAft>
            </a:pPr>
            <a:r>
              <a:rPr lang="en-US" sz="1300">
                <a:solidFill>
                  <a:srgbClr val="212121"/>
                </a:solidFill>
                <a:latin typeface="Segoe UI" panose="020B0502040204020203" pitchFamily="34" charset="0"/>
              </a:rPr>
              <a:t>UI rendered via DynamicComponent(ComponentType)</a:t>
            </a:r>
          </a:p>
        </p:txBody>
      </p:sp>
    </p:spTree>
    <p:extLst>
      <p:ext uri="{BB962C8B-B14F-4D97-AF65-F5344CB8AC3E}">
        <p14:creationId xmlns:p14="http://schemas.microsoft.com/office/powerpoint/2010/main" val="15766311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132F4A2-85BD-1CD5-8462-D60A99E570DE}"/>
              </a:ext>
            </a:extLst>
          </p:cNvPr>
          <p:cNvSpPr/>
          <p:nvPr/>
        </p:nvSpPr>
        <p:spPr>
          <a:xfrm>
            <a:off x="0" y="0"/>
            <a:ext cx="12192000" cy="812800"/>
          </a:xfrm>
          <a:prstGeom prst="rect">
            <a:avLst/>
          </a:prstGeom>
          <a:solidFill>
            <a:srgbClr val="1F3864"/>
          </a:solidFill>
          <a:ln w="15875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5875" cap="flat" cmpd="sng" algn="ctr">
                <a:solidFill>
                  <a:srgbClr val="1F3864"/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5CBD8A9-E8CF-5FE5-3BDA-A376F20F4834}"/>
              </a:ext>
            </a:extLst>
          </p:cNvPr>
          <p:cNvSpPr txBox="1"/>
          <p:nvPr/>
        </p:nvSpPr>
        <p:spPr>
          <a:xfrm>
            <a:off x="381000" y="152400"/>
            <a:ext cx="11430000" cy="451406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en-US" sz="2600" b="1">
                <a:solidFill>
                  <a:srgbClr val="FFFFFF"/>
                </a:solidFill>
                <a:latin typeface="Segoe UI" panose="020B0502040204020203" pitchFamily="34" charset="0"/>
              </a:rPr>
              <a:t>The Thin Waist - Shared vs Isolated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40AA8894-AFBB-60D1-1852-54220B6E3259}"/>
              </a:ext>
            </a:extLst>
          </p:cNvPr>
          <p:cNvSpPr/>
          <p:nvPr/>
        </p:nvSpPr>
        <p:spPr>
          <a:xfrm>
            <a:off x="508000" y="1270000"/>
            <a:ext cx="5461000" cy="4318000"/>
          </a:xfrm>
          <a:prstGeom prst="roundRect">
            <a:avLst/>
          </a:prstGeom>
          <a:solidFill>
            <a:srgbClr val="D6EAD6"/>
          </a:solidFill>
          <a:ln w="15875">
            <a:solidFill>
              <a:srgbClr val="4CAF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51DFA25-FCCD-C0E3-4531-C050998B8C72}"/>
              </a:ext>
            </a:extLst>
          </p:cNvPr>
          <p:cNvSpPr txBox="1"/>
          <p:nvPr/>
        </p:nvSpPr>
        <p:spPr>
          <a:xfrm>
            <a:off x="508000" y="1397000"/>
            <a:ext cx="5461000" cy="312906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pPr algn="ctr"/>
            <a:r>
              <a:rPr lang="en-US" sz="1700" b="1">
                <a:solidFill>
                  <a:srgbClr val="4CAF50"/>
                </a:solidFill>
                <a:latin typeface="Segoe UI" panose="020B0502040204020203" pitchFamily="34" charset="0"/>
              </a:rPr>
              <a:t>SHARED (Boundary)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23482C0-62E8-2445-4420-41442FCB78BB}"/>
              </a:ext>
            </a:extLst>
          </p:cNvPr>
          <p:cNvSpPr txBox="1"/>
          <p:nvPr/>
        </p:nvSpPr>
        <p:spPr>
          <a:xfrm>
            <a:off x="762000" y="1968500"/>
            <a:ext cx="4953000" cy="213904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US" sz="1350">
                <a:solidFill>
                  <a:srgbClr val="212121"/>
                </a:solidFill>
                <a:latin typeface="Segoe UI" panose="020B0502040204020203" pitchFamily="34" charset="0"/>
              </a:rPr>
              <a:t>NodeConfigurator.Abstractions (the IExtension contract)</a:t>
            </a:r>
          </a:p>
          <a:p>
            <a:pPr>
              <a:spcAft>
                <a:spcPts val="600"/>
              </a:spcAft>
            </a:pPr>
            <a:r>
              <a:rPr lang="en-US" sz="1350">
                <a:solidFill>
                  <a:srgbClr val="212121"/>
                </a:solidFill>
                <a:latin typeface="Segoe UI" panose="020B0502040204020203" pitchFamily="34" charset="0"/>
              </a:rPr>
              <a:t>Blazor component model (Microsoft.AspNetCore.Components*)</a:t>
            </a:r>
          </a:p>
          <a:p>
            <a:pPr>
              <a:spcAft>
                <a:spcPts val="600"/>
              </a:spcAft>
            </a:pPr>
            <a:r>
              <a:rPr lang="en-US" sz="1350">
                <a:solidFill>
                  <a:srgbClr val="212121"/>
                </a:solidFill>
                <a:latin typeface="Segoe UI" panose="020B0502040204020203" pitchFamily="34" charset="0"/>
              </a:rPr>
              <a:t>System.Text.Json (JsonElement crosses the boundary)</a:t>
            </a:r>
          </a:p>
          <a:p>
            <a:pPr>
              <a:spcAft>
                <a:spcPts val="600"/>
              </a:spcAft>
            </a:pPr>
            <a:r>
              <a:rPr lang="en-US" sz="1350">
                <a:solidFill>
                  <a:srgbClr val="212121"/>
                </a:solidFill>
                <a:latin typeface="Segoe UI" panose="020B0502040204020203" pitchFamily="34" charset="0"/>
              </a:rPr>
              <a:t>Microsoft.JSInterop</a:t>
            </a:r>
          </a:p>
          <a:p>
            <a:pPr>
              <a:spcAft>
                <a:spcPts val="600"/>
              </a:spcAft>
            </a:pPr>
            <a:r>
              <a:rPr lang="en-US" sz="1350">
                <a:solidFill>
                  <a:srgbClr val="212121"/>
                </a:solidFill>
                <a:latin typeface="Segoe UI" panose="020B0502040204020203" pitchFamily="34" charset="0"/>
              </a:rPr>
              <a:t>DI + Logging abstractions</a:t>
            </a:r>
          </a:p>
          <a:p>
            <a:pPr>
              <a:spcAft>
                <a:spcPts val="600"/>
              </a:spcAft>
            </a:pPr>
            <a:r>
              <a:rPr lang="en-US" sz="1350">
                <a:solidFill>
                  <a:srgbClr val="212121"/>
                </a:solidFill>
                <a:latin typeface="Segoe UI" panose="020B0502040204020203" pitchFamily="34" charset="0"/>
              </a:rPr>
              <a:t>Why: these types cross host &lt;-&gt; plugin, so identity must be unified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D2AC3434-5D5A-7752-71F9-468828859592}"/>
              </a:ext>
            </a:extLst>
          </p:cNvPr>
          <p:cNvSpPr/>
          <p:nvPr/>
        </p:nvSpPr>
        <p:spPr>
          <a:xfrm>
            <a:off x="6223000" y="1270000"/>
            <a:ext cx="5461000" cy="4318000"/>
          </a:xfrm>
          <a:prstGeom prst="roundRect">
            <a:avLst/>
          </a:prstGeom>
          <a:solidFill>
            <a:srgbClr val="FDDEBE"/>
          </a:solidFill>
          <a:ln w="15875">
            <a:solidFill>
              <a:srgbClr val="E67E2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5BA6E35-2222-27B0-0DDF-776100E7D568}"/>
              </a:ext>
            </a:extLst>
          </p:cNvPr>
          <p:cNvSpPr txBox="1"/>
          <p:nvPr/>
        </p:nvSpPr>
        <p:spPr>
          <a:xfrm>
            <a:off x="6223000" y="1397000"/>
            <a:ext cx="5461000" cy="312906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pPr algn="ctr"/>
            <a:r>
              <a:rPr lang="en-US" sz="1700" b="1">
                <a:solidFill>
                  <a:srgbClr val="E67E22"/>
                </a:solidFill>
                <a:latin typeface="Segoe UI" panose="020B0502040204020203" pitchFamily="34" charset="0"/>
              </a:rPr>
              <a:t>ISOLATED (per plugin)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F8BE7E1-AA27-24EB-B998-125951DBFE2F}"/>
              </a:ext>
            </a:extLst>
          </p:cNvPr>
          <p:cNvSpPr txBox="1"/>
          <p:nvPr/>
        </p:nvSpPr>
        <p:spPr>
          <a:xfrm>
            <a:off x="6477000" y="1968500"/>
            <a:ext cx="4953000" cy="1723549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US" sz="1350">
                <a:solidFill>
                  <a:srgbClr val="212121"/>
                </a:solidFill>
                <a:latin typeface="Segoe UI" panose="020B0502040204020203" pitchFamily="34" charset="0"/>
              </a:rPr>
              <a:t>Newtonsoft.Json (Identity 12.0.3 vs CentralNode 13.0.3)</a:t>
            </a:r>
          </a:p>
          <a:p>
            <a:pPr>
              <a:spcAft>
                <a:spcPts val="600"/>
              </a:spcAft>
            </a:pPr>
            <a:r>
              <a:rPr lang="en-US" sz="1350">
                <a:solidFill>
                  <a:srgbClr val="212121"/>
                </a:solidFill>
                <a:latin typeface="Segoe UI" panose="020B0502040204020203" pitchFamily="34" charset="0"/>
              </a:rPr>
              <a:t>Markdig (Identity 0.31.0 vs CentralNode 0.38.0)</a:t>
            </a:r>
          </a:p>
          <a:p>
            <a:pPr>
              <a:spcAft>
                <a:spcPts val="600"/>
              </a:spcAft>
            </a:pPr>
            <a:r>
              <a:rPr lang="en-US" sz="1350">
                <a:solidFill>
                  <a:srgbClr val="212121"/>
                </a:solidFill>
                <a:latin typeface="Segoe UI" panose="020B0502040204020203" pitchFamily="34" charset="0"/>
              </a:rPr>
              <a:t>Any private helper/data libraries</a:t>
            </a:r>
          </a:p>
          <a:p>
            <a:pPr>
              <a:spcAft>
                <a:spcPts val="600"/>
              </a:spcAft>
            </a:pPr>
            <a:r>
              <a:rPr lang="en-US" sz="1350">
                <a:solidFill>
                  <a:srgbClr val="212121"/>
                </a:solidFill>
                <a:latin typeface="Segoe UI" panose="020B0502040204020203" pitchFamily="34" charset="0"/>
              </a:rPr>
              <a:t>Loaded from the plugin folder via .deps.json</a:t>
            </a:r>
          </a:p>
          <a:p>
            <a:pPr>
              <a:spcAft>
                <a:spcPts val="600"/>
              </a:spcAft>
            </a:pPr>
            <a:r>
              <a:rPr lang="en-US" sz="1350">
                <a:solidFill>
                  <a:srgbClr val="212121"/>
                </a:solidFill>
                <a:latin typeface="Segoe UI" panose="020B0502040204020203" pitchFamily="34" charset="0"/>
              </a:rPr>
              <a:t>Why: no such type appears on the contract surface</a:t>
            </a:r>
          </a:p>
          <a:p>
            <a:pPr>
              <a:spcAft>
                <a:spcPts val="600"/>
              </a:spcAft>
            </a:pPr>
            <a:r>
              <a:rPr lang="en-US" sz="1350">
                <a:solidFill>
                  <a:srgbClr val="212121"/>
                </a:solidFill>
                <a:latin typeface="Segoe UI" panose="020B0502040204020203" pitchFamily="34" charset="0"/>
              </a:rPr>
              <a:t>Result: plugins version dependencies independently</a:t>
            </a:r>
          </a:p>
        </p:txBody>
      </p:sp>
    </p:spTree>
    <p:extLst>
      <p:ext uri="{BB962C8B-B14F-4D97-AF65-F5344CB8AC3E}">
        <p14:creationId xmlns:p14="http://schemas.microsoft.com/office/powerpoint/2010/main" val="101030227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A0B3548-A954-BF61-D09D-5E6C654B1E1D}"/>
              </a:ext>
            </a:extLst>
          </p:cNvPr>
          <p:cNvSpPr/>
          <p:nvPr/>
        </p:nvSpPr>
        <p:spPr>
          <a:xfrm>
            <a:off x="0" y="0"/>
            <a:ext cx="12192000" cy="812800"/>
          </a:xfrm>
          <a:prstGeom prst="rect">
            <a:avLst/>
          </a:prstGeom>
          <a:solidFill>
            <a:srgbClr val="1F3864"/>
          </a:solidFill>
          <a:ln w="15875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5875" cap="flat" cmpd="sng" algn="ctr">
                <a:solidFill>
                  <a:srgbClr val="1F3864"/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D164BA5-B4B3-8101-0328-70765616DD3D}"/>
              </a:ext>
            </a:extLst>
          </p:cNvPr>
          <p:cNvSpPr txBox="1"/>
          <p:nvPr/>
        </p:nvSpPr>
        <p:spPr>
          <a:xfrm>
            <a:off x="381000" y="152400"/>
            <a:ext cx="11430000" cy="451406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en-US" sz="2600" b="1">
                <a:solidFill>
                  <a:srgbClr val="FFFFFF"/>
                </a:solidFill>
                <a:latin typeface="Segoe UI" panose="020B0502040204020203" pitchFamily="34" charset="0"/>
              </a:rPr>
              <a:t>Event Bus - Publish / Subscribe Flow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DD584624-691A-D5C8-EDA9-3EF50842AA55}"/>
              </a:ext>
            </a:extLst>
          </p:cNvPr>
          <p:cNvSpPr/>
          <p:nvPr/>
        </p:nvSpPr>
        <p:spPr>
          <a:xfrm>
            <a:off x="5080000" y="2667000"/>
            <a:ext cx="2286000" cy="1397000"/>
          </a:xfrm>
          <a:prstGeom prst="roundRect">
            <a:avLst/>
          </a:prstGeom>
          <a:solidFill>
            <a:srgbClr val="E2E2E2"/>
          </a:solidFill>
          <a:ln w="19050">
            <a:solidFill>
              <a:srgbClr val="78787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en-US" sz="1200" b="1">
                <a:solidFill>
                  <a:srgbClr val="212121"/>
                </a:solidFill>
                <a:latin typeface="Segoe UI" panose="020B0502040204020203" pitchFamily="34" charset="0"/>
              </a:rPr>
              <a:t>Host Event Bus
(in-memory)
Central Communication Hub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7438E138-D27F-7FE8-EC2D-B88E75877D8E}"/>
              </a:ext>
            </a:extLst>
          </p:cNvPr>
          <p:cNvSpPr/>
          <p:nvPr/>
        </p:nvSpPr>
        <p:spPr>
          <a:xfrm>
            <a:off x="1143000" y="1270000"/>
            <a:ext cx="2286000" cy="584200"/>
          </a:xfrm>
          <a:prstGeom prst="roundRect">
            <a:avLst/>
          </a:prstGeom>
          <a:solidFill>
            <a:srgbClr val="D9EAF7"/>
          </a:solidFill>
          <a:ln w="15875">
            <a:solidFill>
              <a:srgbClr val="2980B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en-US" sz="1300" b="1">
                <a:solidFill>
                  <a:srgbClr val="212121"/>
                </a:solidFill>
                <a:latin typeface="Segoe UI" panose="020B0502040204020203" pitchFamily="34" charset="0"/>
              </a:rPr>
              <a:t>Host UI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C6B0947D-62B5-AD92-3443-A6F04E12B836}"/>
              </a:ext>
            </a:extLst>
          </p:cNvPr>
          <p:cNvCxnSpPr/>
          <p:nvPr/>
        </p:nvCxnSpPr>
        <p:spPr>
          <a:xfrm>
            <a:off x="2286000" y="1854200"/>
            <a:ext cx="3302000" cy="812800"/>
          </a:xfrm>
          <a:prstGeom prst="line">
            <a:avLst/>
          </a:prstGeom>
          <a:ln w="22225">
            <a:solidFill>
              <a:srgbClr val="2980B9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2566C4AD-2A75-9E0D-CDE6-C0042F498C75}"/>
              </a:ext>
            </a:extLst>
          </p:cNvPr>
          <p:cNvSpPr txBox="1"/>
          <p:nvPr/>
        </p:nvSpPr>
        <p:spPr>
          <a:xfrm>
            <a:off x="3175000" y="1905000"/>
            <a:ext cx="2540000" cy="205184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en-US" sz="1000">
                <a:solidFill>
                  <a:srgbClr val="2980B9"/>
                </a:solidFill>
                <a:latin typeface="Segoe UI" panose="020B0502040204020203" pitchFamily="34" charset="0"/>
              </a:rPr>
              <a:t>Publish: NodeSelected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B5BC4B2A-4912-6325-C8B0-631CF37E66BF}"/>
              </a:ext>
            </a:extLst>
          </p:cNvPr>
          <p:cNvSpPr/>
          <p:nvPr/>
        </p:nvSpPr>
        <p:spPr>
          <a:xfrm>
            <a:off x="8890000" y="1270000"/>
            <a:ext cx="2286000" cy="584200"/>
          </a:xfrm>
          <a:prstGeom prst="roundRect">
            <a:avLst/>
          </a:prstGeom>
          <a:solidFill>
            <a:srgbClr val="D6EAD6"/>
          </a:solidFill>
          <a:ln w="15875">
            <a:solidFill>
              <a:srgbClr val="4CAF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en-US" sz="1200" b="1">
                <a:solidFill>
                  <a:srgbClr val="212121"/>
                </a:solidFill>
                <a:latin typeface="Segoe UI" panose="020B0502040204020203" pitchFamily="34" charset="0"/>
              </a:rPr>
              <a:t>Central Node Extension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FC72458E-1D02-E58D-A05F-BBF662EC9CAC}"/>
              </a:ext>
            </a:extLst>
          </p:cNvPr>
          <p:cNvCxnSpPr/>
          <p:nvPr/>
        </p:nvCxnSpPr>
        <p:spPr>
          <a:xfrm flipH="1">
            <a:off x="6858000" y="1854200"/>
            <a:ext cx="2032000" cy="812800"/>
          </a:xfrm>
          <a:prstGeom prst="line">
            <a:avLst/>
          </a:prstGeom>
          <a:ln w="22225">
            <a:solidFill>
              <a:srgbClr val="4CAF5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DBB2C67C-9F4C-10D9-06EC-F7BFB71CCC45}"/>
              </a:ext>
            </a:extLst>
          </p:cNvPr>
          <p:cNvSpPr txBox="1"/>
          <p:nvPr/>
        </p:nvSpPr>
        <p:spPr>
          <a:xfrm>
            <a:off x="6604000" y="1905000"/>
            <a:ext cx="2413000" cy="205184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en-US" sz="1000">
                <a:solidFill>
                  <a:srgbClr val="4CAF50"/>
                </a:solidFill>
                <a:latin typeface="Segoe UI" panose="020B0502040204020203" pitchFamily="34" charset="0"/>
              </a:rPr>
              <a:t>Publish: CentralNodeChanged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27136907-921E-31CC-C229-10DC4A543C60}"/>
              </a:ext>
            </a:extLst>
          </p:cNvPr>
          <p:cNvSpPr/>
          <p:nvPr/>
        </p:nvSpPr>
        <p:spPr>
          <a:xfrm>
            <a:off x="9144000" y="2984500"/>
            <a:ext cx="2032000" cy="584200"/>
          </a:xfrm>
          <a:prstGeom prst="roundRect">
            <a:avLst/>
          </a:prstGeom>
          <a:solidFill>
            <a:srgbClr val="FDDEBE"/>
          </a:solidFill>
          <a:ln w="15875">
            <a:solidFill>
              <a:srgbClr val="E67E2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en-US" sz="1200" b="1">
                <a:solidFill>
                  <a:srgbClr val="212121"/>
                </a:solidFill>
                <a:latin typeface="Segoe UI" panose="020B0502040204020203" pitchFamily="34" charset="0"/>
              </a:rPr>
              <a:t>Mode Extension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86550A32-AE32-7101-0C54-6F3FD5AB3063}"/>
              </a:ext>
            </a:extLst>
          </p:cNvPr>
          <p:cNvCxnSpPr/>
          <p:nvPr/>
        </p:nvCxnSpPr>
        <p:spPr>
          <a:xfrm flipH="1">
            <a:off x="7366000" y="3276600"/>
            <a:ext cx="1778000" cy="0"/>
          </a:xfrm>
          <a:prstGeom prst="line">
            <a:avLst/>
          </a:prstGeom>
          <a:ln w="22225">
            <a:solidFill>
              <a:srgbClr val="E67E2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A431D081-C2DA-7B69-F452-5724378E6913}"/>
              </a:ext>
            </a:extLst>
          </p:cNvPr>
          <p:cNvSpPr txBox="1"/>
          <p:nvPr/>
        </p:nvSpPr>
        <p:spPr>
          <a:xfrm>
            <a:off x="7467600" y="2667000"/>
            <a:ext cx="1651000" cy="205184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en-US" sz="1000">
                <a:solidFill>
                  <a:srgbClr val="E67E22"/>
                </a:solidFill>
                <a:latin typeface="Segoe UI" panose="020B0502040204020203" pitchFamily="34" charset="0"/>
              </a:rPr>
              <a:t>Publish: ModeChanged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89EFC9A0-6CAB-7DDB-5085-AC70D47CC4F3}"/>
              </a:ext>
            </a:extLst>
          </p:cNvPr>
          <p:cNvSpPr/>
          <p:nvPr/>
        </p:nvSpPr>
        <p:spPr>
          <a:xfrm>
            <a:off x="8890000" y="4572000"/>
            <a:ext cx="2286000" cy="584200"/>
          </a:xfrm>
          <a:prstGeom prst="roundRect">
            <a:avLst/>
          </a:prstGeom>
          <a:solidFill>
            <a:srgbClr val="E2D6F0"/>
          </a:solidFill>
          <a:ln w="15875">
            <a:solidFill>
              <a:srgbClr val="8E44A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en-US" sz="1200" b="1">
                <a:solidFill>
                  <a:srgbClr val="212121"/>
                </a:solidFill>
                <a:latin typeface="Segoe UI" panose="020B0502040204020203" pitchFamily="34" charset="0"/>
              </a:rPr>
              <a:t>Identity Extension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839C0F0F-2619-7CEA-F0D0-7A09AD926F37}"/>
              </a:ext>
            </a:extLst>
          </p:cNvPr>
          <p:cNvCxnSpPr/>
          <p:nvPr/>
        </p:nvCxnSpPr>
        <p:spPr>
          <a:xfrm flipH="1" flipV="1">
            <a:off x="6985000" y="4064000"/>
            <a:ext cx="1905000" cy="508000"/>
          </a:xfrm>
          <a:prstGeom prst="line">
            <a:avLst/>
          </a:prstGeom>
          <a:ln w="22225">
            <a:solidFill>
              <a:srgbClr val="8E44AD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9E0C2C44-6061-3C3C-95A3-8A2486C412DF}"/>
              </a:ext>
            </a:extLst>
          </p:cNvPr>
          <p:cNvSpPr txBox="1"/>
          <p:nvPr/>
        </p:nvSpPr>
        <p:spPr>
          <a:xfrm>
            <a:off x="7493000" y="4191000"/>
            <a:ext cx="1905000" cy="205184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en-US" sz="1000">
                <a:solidFill>
                  <a:srgbClr val="8E44AD"/>
                </a:solidFill>
                <a:latin typeface="Segoe UI" panose="020B0502040204020203" pitchFamily="34" charset="0"/>
              </a:rPr>
              <a:t>Subscribe: ModeChanged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5FC21E5-1AE1-39F6-9442-DC094EAF2AF0}"/>
              </a:ext>
            </a:extLst>
          </p:cNvPr>
          <p:cNvSpPr txBox="1"/>
          <p:nvPr/>
        </p:nvSpPr>
        <p:spPr>
          <a:xfrm>
            <a:off x="7493000" y="5143500"/>
            <a:ext cx="1905000" cy="205184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en-US" sz="1000">
                <a:solidFill>
                  <a:srgbClr val="8E44AD"/>
                </a:solidFill>
                <a:latin typeface="Segoe UI" panose="020B0502040204020203" pitchFamily="34" charset="0"/>
              </a:rPr>
              <a:t>Publish: ValidationResult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DC327ED5-6F22-284D-FF0C-5410BB759931}"/>
              </a:ext>
            </a:extLst>
          </p:cNvPr>
          <p:cNvSpPr/>
          <p:nvPr/>
        </p:nvSpPr>
        <p:spPr>
          <a:xfrm>
            <a:off x="1270000" y="4254500"/>
            <a:ext cx="2540000" cy="711200"/>
          </a:xfrm>
          <a:prstGeom prst="roundRect">
            <a:avLst/>
          </a:prstGeom>
          <a:solidFill>
            <a:srgbClr val="E0D6BE"/>
          </a:solidFill>
          <a:ln w="15875">
            <a:solidFill>
              <a:srgbClr val="96784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en-US" sz="1300" b="1">
                <a:solidFill>
                  <a:srgbClr val="212121"/>
                </a:solidFill>
                <a:latin typeface="Segoe UI" panose="020B0502040204020203" pitchFamily="34" charset="0"/>
              </a:rPr>
              <a:t>Persistence (JSON)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FFEE9D4C-AC64-D231-FE4C-83337704A755}"/>
              </a:ext>
            </a:extLst>
          </p:cNvPr>
          <p:cNvCxnSpPr/>
          <p:nvPr/>
        </p:nvCxnSpPr>
        <p:spPr>
          <a:xfrm flipH="1">
            <a:off x="3810000" y="3810000"/>
            <a:ext cx="1270000" cy="571500"/>
          </a:xfrm>
          <a:prstGeom prst="line">
            <a:avLst/>
          </a:prstGeom>
          <a:ln w="22225">
            <a:solidFill>
              <a:srgbClr val="96784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93AC9042-6505-7AAB-9000-6C4D05B43C68}"/>
              </a:ext>
            </a:extLst>
          </p:cNvPr>
          <p:cNvSpPr txBox="1"/>
          <p:nvPr/>
        </p:nvSpPr>
        <p:spPr>
          <a:xfrm>
            <a:off x="3810000" y="3810000"/>
            <a:ext cx="1905000" cy="205184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en-US" sz="1000">
                <a:solidFill>
                  <a:srgbClr val="967846"/>
                </a:solidFill>
                <a:latin typeface="Segoe UI" panose="020B0502040204020203" pitchFamily="34" charset="0"/>
              </a:rPr>
              <a:t>Publish: Save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D7029E4-C0D2-75DD-7874-E503FE583BC8}"/>
              </a:ext>
            </a:extLst>
          </p:cNvPr>
          <p:cNvSpPr txBox="1"/>
          <p:nvPr/>
        </p:nvSpPr>
        <p:spPr>
          <a:xfrm>
            <a:off x="889000" y="3810000"/>
            <a:ext cx="2794000" cy="205184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en-US" sz="1000">
                <a:solidFill>
                  <a:srgbClr val="5A5A5A"/>
                </a:solidFill>
                <a:latin typeface="Segoe UI" panose="020B0502040204020203" pitchFamily="34" charset="0"/>
              </a:rPr>
              <a:t>Save -&gt; Write JSON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A2E91DA-8806-1878-9049-806C27DB0266}"/>
              </a:ext>
            </a:extLst>
          </p:cNvPr>
          <p:cNvSpPr txBox="1"/>
          <p:nvPr/>
        </p:nvSpPr>
        <p:spPr>
          <a:xfrm>
            <a:off x="889000" y="5080000"/>
            <a:ext cx="3048000" cy="205184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en-US" sz="1000">
                <a:solidFill>
                  <a:srgbClr val="5A5A5A"/>
                </a:solidFill>
                <a:latin typeface="Segoe UI" panose="020B0502040204020203" pitchFamily="34" charset="0"/>
              </a:rPr>
              <a:t>Startup -&gt; Read JSON and Host Hydrates Extensions</a:t>
            </a: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0F7F4076-B7B2-340C-BD75-AAF87B314D18}"/>
              </a:ext>
            </a:extLst>
          </p:cNvPr>
          <p:cNvSpPr/>
          <p:nvPr/>
        </p:nvSpPr>
        <p:spPr>
          <a:xfrm>
            <a:off x="9499600" y="3810000"/>
            <a:ext cx="2413000" cy="660400"/>
          </a:xfrm>
          <a:prstGeom prst="roundRect">
            <a:avLst/>
          </a:prstGeom>
          <a:solidFill>
            <a:srgbClr val="FDF5CD"/>
          </a:solidFill>
          <a:ln w="12700">
            <a:solidFill>
              <a:srgbClr val="D6B45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en-US" sz="950">
                <a:solidFill>
                  <a:srgbClr val="212121"/>
                </a:solidFill>
                <a:latin typeface="Segoe UI" panose="020B0502040204020203" pitchFamily="34" charset="0"/>
              </a:rPr>
              <a:t>Validation Rule: If Mode=Connected then Identity must be EntraID</a:t>
            </a: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5AC149B6-506D-92A4-453B-D65F5BB6F802}"/>
              </a:ext>
            </a:extLst>
          </p:cNvPr>
          <p:cNvSpPr/>
          <p:nvPr/>
        </p:nvSpPr>
        <p:spPr>
          <a:xfrm>
            <a:off x="508000" y="5842000"/>
            <a:ext cx="5080000" cy="787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8787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C872596-F32C-9D37-BDC5-2F48F9712D71}"/>
              </a:ext>
            </a:extLst>
          </p:cNvPr>
          <p:cNvSpPr txBox="1"/>
          <p:nvPr/>
        </p:nvSpPr>
        <p:spPr>
          <a:xfrm>
            <a:off x="698500" y="5905500"/>
            <a:ext cx="4826000" cy="235962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en-US" sz="1200" b="1">
                <a:solidFill>
                  <a:srgbClr val="1F3864"/>
                </a:solidFill>
                <a:latin typeface="Segoe UI" panose="020B0502040204020203" pitchFamily="34" charset="0"/>
              </a:rPr>
              <a:t>Legend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43A263FC-1C42-D359-1BFA-9DFCCBBD8866}"/>
              </a:ext>
            </a:extLst>
          </p:cNvPr>
          <p:cNvSpPr txBox="1"/>
          <p:nvPr/>
        </p:nvSpPr>
        <p:spPr>
          <a:xfrm>
            <a:off x="698500" y="6172200"/>
            <a:ext cx="4826000" cy="220573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en-US" sz="1100">
                <a:solidFill>
                  <a:srgbClr val="212121"/>
                </a:solidFill>
                <a:latin typeface="Segoe UI" panose="020B0502040204020203" pitchFamily="34" charset="0"/>
              </a:rPr>
              <a:t>-&gt; Publish: event to bus (Sender to Hub)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7532926-474F-CC69-4BB9-D206F31B1C44}"/>
              </a:ext>
            </a:extLst>
          </p:cNvPr>
          <p:cNvSpPr txBox="1"/>
          <p:nvPr/>
        </p:nvSpPr>
        <p:spPr>
          <a:xfrm>
            <a:off x="698500" y="6388100"/>
            <a:ext cx="4826000" cy="220573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en-US" sz="1100">
                <a:solidFill>
                  <a:srgbClr val="212121"/>
                </a:solidFill>
                <a:latin typeface="Segoe UI" panose="020B0502040204020203" pitchFamily="34" charset="0"/>
              </a:rPr>
              <a:t>&lt;- Subscribe: bus to handler (Hub to Receiver)</a:t>
            </a:r>
          </a:p>
        </p:txBody>
      </p:sp>
    </p:spTree>
    <p:extLst>
      <p:ext uri="{BB962C8B-B14F-4D97-AF65-F5344CB8AC3E}">
        <p14:creationId xmlns:p14="http://schemas.microsoft.com/office/powerpoint/2010/main" val="412406887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A4B944D-966B-B9E4-3D19-587D96E782B4}"/>
              </a:ext>
            </a:extLst>
          </p:cNvPr>
          <p:cNvSpPr/>
          <p:nvPr/>
        </p:nvSpPr>
        <p:spPr>
          <a:xfrm>
            <a:off x="0" y="0"/>
            <a:ext cx="12192000" cy="812800"/>
          </a:xfrm>
          <a:prstGeom prst="rect">
            <a:avLst/>
          </a:prstGeom>
          <a:solidFill>
            <a:srgbClr val="1F3864"/>
          </a:solidFill>
          <a:ln w="15875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5875" cap="flat" cmpd="sng" algn="ctr">
                <a:solidFill>
                  <a:srgbClr val="1F3864"/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AE3DA45-2BFB-85A1-3747-F4C85AEC7F68}"/>
              </a:ext>
            </a:extLst>
          </p:cNvPr>
          <p:cNvSpPr txBox="1"/>
          <p:nvPr/>
        </p:nvSpPr>
        <p:spPr>
          <a:xfrm>
            <a:off x="381000" y="152400"/>
            <a:ext cx="11430000" cy="451406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en-US" sz="2600" b="1">
                <a:solidFill>
                  <a:srgbClr val="FFFFFF"/>
                </a:solidFill>
                <a:latin typeface="Segoe UI" panose="020B0502040204020203" pitchFamily="34" charset="0"/>
              </a:rPr>
              <a:t>Dependency Isolation - Proven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26584B1-A084-3E67-92AF-465932E3334E}"/>
              </a:ext>
            </a:extLst>
          </p:cNvPr>
          <p:cNvSpPr txBox="1"/>
          <p:nvPr/>
        </p:nvSpPr>
        <p:spPr>
          <a:xfrm>
            <a:off x="508000" y="990600"/>
            <a:ext cx="11176000" cy="282129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en-US" sz="1500" b="1">
                <a:solidFill>
                  <a:srgbClr val="1F3864"/>
                </a:solidFill>
                <a:latin typeface="Segoe UI" panose="020B0502040204020203" pitchFamily="34" charset="0"/>
              </a:rPr>
              <a:t>Two plugins load different versions of the same libraries at the same time - no conflict.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42EB293-9FF3-6C72-BFF9-16F714FAA285}"/>
              </a:ext>
            </a:extLst>
          </p:cNvPr>
          <p:cNvSpPr/>
          <p:nvPr/>
        </p:nvSpPr>
        <p:spPr>
          <a:xfrm>
            <a:off x="762000" y="1651000"/>
            <a:ext cx="2540000" cy="685800"/>
          </a:xfrm>
          <a:prstGeom prst="rect">
            <a:avLst/>
          </a:prstGeom>
          <a:solidFill>
            <a:srgbClr val="1F3864"/>
          </a:solidFill>
          <a:ln w="6350">
            <a:solidFill>
              <a:srgbClr val="1F386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en-US" sz="1300" b="1">
                <a:solidFill>
                  <a:srgbClr val="FFFFFF"/>
                </a:solidFill>
                <a:latin typeface="Segoe UI" panose="020B0502040204020203" pitchFamily="34" charset="0"/>
              </a:rPr>
              <a:t>Plugin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BC081D5-2AEA-A2D8-59A7-A7B764EE7EE4}"/>
              </a:ext>
            </a:extLst>
          </p:cNvPr>
          <p:cNvSpPr/>
          <p:nvPr/>
        </p:nvSpPr>
        <p:spPr>
          <a:xfrm>
            <a:off x="3302000" y="1651000"/>
            <a:ext cx="3556000" cy="685800"/>
          </a:xfrm>
          <a:prstGeom prst="rect">
            <a:avLst/>
          </a:prstGeom>
          <a:solidFill>
            <a:srgbClr val="1F3864"/>
          </a:solidFill>
          <a:ln w="6350">
            <a:solidFill>
              <a:srgbClr val="1F386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en-US" sz="1300" b="1">
                <a:solidFill>
                  <a:srgbClr val="FFFFFF"/>
                </a:solidFill>
                <a:latin typeface="Segoe UI" panose="020B0502040204020203" pitchFamily="34" charset="0"/>
              </a:rPr>
              <a:t>Newtonsoft.Json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EBA57DD-B743-8884-BEF7-A9EA18D4D8A5}"/>
              </a:ext>
            </a:extLst>
          </p:cNvPr>
          <p:cNvSpPr/>
          <p:nvPr/>
        </p:nvSpPr>
        <p:spPr>
          <a:xfrm>
            <a:off x="6858000" y="1651000"/>
            <a:ext cx="3556000" cy="685800"/>
          </a:xfrm>
          <a:prstGeom prst="rect">
            <a:avLst/>
          </a:prstGeom>
          <a:solidFill>
            <a:srgbClr val="1F3864"/>
          </a:solidFill>
          <a:ln w="6350">
            <a:solidFill>
              <a:srgbClr val="1F386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en-US" sz="1300" b="1">
                <a:solidFill>
                  <a:srgbClr val="FFFFFF"/>
                </a:solidFill>
                <a:latin typeface="Segoe UI" panose="020B0502040204020203" pitchFamily="34" charset="0"/>
              </a:rPr>
              <a:t>Markdig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8D48514-BFB0-43CC-5CE2-9DF284D540D0}"/>
              </a:ext>
            </a:extLst>
          </p:cNvPr>
          <p:cNvSpPr/>
          <p:nvPr/>
        </p:nvSpPr>
        <p:spPr>
          <a:xfrm>
            <a:off x="762000" y="2336800"/>
            <a:ext cx="2540000" cy="685800"/>
          </a:xfrm>
          <a:prstGeom prst="rect">
            <a:avLst/>
          </a:prstGeom>
          <a:solidFill>
            <a:srgbClr val="D9EAF7"/>
          </a:solidFill>
          <a:ln w="6350">
            <a:solidFill>
              <a:srgbClr val="78787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en-US" sz="1200" b="1">
                <a:solidFill>
                  <a:srgbClr val="212121"/>
                </a:solidFill>
                <a:latin typeface="Segoe UI" panose="020B0502040204020203" pitchFamily="34" charset="0"/>
              </a:rPr>
              <a:t>Identity (ext.identity)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AA09425-EF36-A6F9-AC47-E89C31DE4DDD}"/>
              </a:ext>
            </a:extLst>
          </p:cNvPr>
          <p:cNvSpPr/>
          <p:nvPr/>
        </p:nvSpPr>
        <p:spPr>
          <a:xfrm>
            <a:off x="3302000" y="2336800"/>
            <a:ext cx="355600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78787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en-US" sz="1500" b="1">
                <a:solidFill>
                  <a:srgbClr val="212121"/>
                </a:solidFill>
                <a:latin typeface="Segoe UI" panose="020B0502040204020203" pitchFamily="34" charset="0"/>
              </a:rPr>
              <a:t>12.0.3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2794BEA-3EDD-83FD-A023-33E2F24C520C}"/>
              </a:ext>
            </a:extLst>
          </p:cNvPr>
          <p:cNvSpPr/>
          <p:nvPr/>
        </p:nvSpPr>
        <p:spPr>
          <a:xfrm>
            <a:off x="6858000" y="2336800"/>
            <a:ext cx="355600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78787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en-US" sz="1500" b="1">
                <a:solidFill>
                  <a:srgbClr val="212121"/>
                </a:solidFill>
                <a:latin typeface="Segoe UI" panose="020B0502040204020203" pitchFamily="34" charset="0"/>
              </a:rPr>
              <a:t>0.31.0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284B5C8-0997-333F-B834-873263888D6E}"/>
              </a:ext>
            </a:extLst>
          </p:cNvPr>
          <p:cNvSpPr/>
          <p:nvPr/>
        </p:nvSpPr>
        <p:spPr>
          <a:xfrm>
            <a:off x="762000" y="3022600"/>
            <a:ext cx="2540000" cy="685800"/>
          </a:xfrm>
          <a:prstGeom prst="rect">
            <a:avLst/>
          </a:prstGeom>
          <a:solidFill>
            <a:srgbClr val="D6EAD6"/>
          </a:solidFill>
          <a:ln w="6350">
            <a:solidFill>
              <a:srgbClr val="78787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en-US" sz="1200" b="1">
                <a:solidFill>
                  <a:srgbClr val="212121"/>
                </a:solidFill>
                <a:latin typeface="Segoe UI" panose="020B0502040204020203" pitchFamily="34" charset="0"/>
              </a:rPr>
              <a:t>CentralNode (ext.central)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4A2265C-1780-EC97-D127-53610D03CDB3}"/>
              </a:ext>
            </a:extLst>
          </p:cNvPr>
          <p:cNvSpPr/>
          <p:nvPr/>
        </p:nvSpPr>
        <p:spPr>
          <a:xfrm>
            <a:off x="3302000" y="3022600"/>
            <a:ext cx="355600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78787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en-US" sz="1500" b="1">
                <a:solidFill>
                  <a:srgbClr val="212121"/>
                </a:solidFill>
                <a:latin typeface="Segoe UI" panose="020B0502040204020203" pitchFamily="34" charset="0"/>
              </a:rPr>
              <a:t>13.0.3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2EF36D3-1914-CD11-BE71-4D96A5D28072}"/>
              </a:ext>
            </a:extLst>
          </p:cNvPr>
          <p:cNvSpPr/>
          <p:nvPr/>
        </p:nvSpPr>
        <p:spPr>
          <a:xfrm>
            <a:off x="6858000" y="3022600"/>
            <a:ext cx="355600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78787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en-US" sz="1500" b="1">
                <a:solidFill>
                  <a:srgbClr val="212121"/>
                </a:solidFill>
                <a:latin typeface="Segoe UI" panose="020B0502040204020203" pitchFamily="34" charset="0"/>
              </a:rPr>
              <a:t>0.38.0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D4DE868-01AF-C948-0753-FB3F518A2F9A}"/>
              </a:ext>
            </a:extLst>
          </p:cNvPr>
          <p:cNvSpPr txBox="1"/>
          <p:nvPr/>
        </p:nvSpPr>
        <p:spPr>
          <a:xfrm>
            <a:off x="762000" y="4064000"/>
            <a:ext cx="10668000" cy="1477328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US" sz="1400">
                <a:solidFill>
                  <a:srgbClr val="212121"/>
                </a:solidFill>
                <a:latin typeface="Segoe UI" panose="020B0502040204020203" pitchFamily="34" charset="0"/>
              </a:rPr>
              <a:t>Each plugin resolves its packages from its own folder via .deps.json</a:t>
            </a:r>
          </a:p>
          <a:p>
            <a:pPr>
              <a:spcAft>
                <a:spcPts val="600"/>
              </a:spcAft>
            </a:pPr>
            <a:r>
              <a:rPr lang="en-US" sz="1400">
                <a:solidFill>
                  <a:srgbClr val="212121"/>
                </a:solidFill>
                <a:latin typeface="Segoe UI" panose="020B0502040204020203" pitchFamily="34" charset="0"/>
              </a:rPr>
              <a:t>Loaded into its own ALC -&gt; distinct assembly identities, no version clash</a:t>
            </a:r>
          </a:p>
          <a:p>
            <a:pPr>
              <a:spcAft>
                <a:spcPts val="600"/>
              </a:spcAft>
            </a:pPr>
            <a:r>
              <a:rPr lang="en-US" sz="1400">
                <a:solidFill>
                  <a:srgbClr val="212121"/>
                </a:solidFill>
                <a:latin typeface="Segoe UI" panose="020B0502040204020203" pitchFamily="34" charset="0"/>
              </a:rPr>
              <a:t>Proof at startup logs assembly version + path + ALC name per plugin</a:t>
            </a:r>
          </a:p>
          <a:p>
            <a:pPr>
              <a:spcAft>
                <a:spcPts val="600"/>
              </a:spcAft>
            </a:pPr>
            <a:r>
              <a:rPr lang="en-US" sz="1400">
                <a:solidFill>
                  <a:srgbClr val="212121"/>
                </a:solidFill>
                <a:latin typeface="Segoe UI" panose="020B0502040204020203" pitchFamily="34" charset="0"/>
              </a:rPr>
              <a:t>PublishTrimmed=false + a 'touch' call keep the DLLs in the publish output</a:t>
            </a:r>
          </a:p>
          <a:p>
            <a:pPr>
              <a:spcAft>
                <a:spcPts val="600"/>
              </a:spcAft>
            </a:pPr>
            <a:r>
              <a:rPr lang="en-US" sz="1400">
                <a:solidFill>
                  <a:srgbClr val="212121"/>
                </a:solidFill>
                <a:latin typeface="Segoe UI" panose="020B0502040204020203" pitchFamily="34" charset="0"/>
              </a:rPr>
              <a:t>Deploy-Plugin.ps1 verifies deps.json, Newtonsoft.Json.dll, Markdig.dll are present</a:t>
            </a:r>
          </a:p>
        </p:txBody>
      </p:sp>
    </p:spTree>
    <p:extLst>
      <p:ext uri="{BB962C8B-B14F-4D97-AF65-F5344CB8AC3E}">
        <p14:creationId xmlns:p14="http://schemas.microsoft.com/office/powerpoint/2010/main" val="216067320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A7BE0EC-90F9-A2CB-D6D3-D8F9521AA668}"/>
              </a:ext>
            </a:extLst>
          </p:cNvPr>
          <p:cNvSpPr/>
          <p:nvPr/>
        </p:nvSpPr>
        <p:spPr>
          <a:xfrm>
            <a:off x="0" y="0"/>
            <a:ext cx="12192000" cy="812800"/>
          </a:xfrm>
          <a:prstGeom prst="rect">
            <a:avLst/>
          </a:prstGeom>
          <a:solidFill>
            <a:srgbClr val="1F3864"/>
          </a:solidFill>
          <a:ln w="15875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5875" cap="flat" cmpd="sng" algn="ctr">
                <a:solidFill>
                  <a:srgbClr val="1F3864"/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1DEB54B-B392-F54C-CBDD-E6C0EAAFB82D}"/>
              </a:ext>
            </a:extLst>
          </p:cNvPr>
          <p:cNvSpPr txBox="1"/>
          <p:nvPr/>
        </p:nvSpPr>
        <p:spPr>
          <a:xfrm>
            <a:off x="381000" y="152400"/>
            <a:ext cx="11430000" cy="451406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en-US" sz="2600" b="1">
                <a:solidFill>
                  <a:srgbClr val="FFFFFF"/>
                </a:solidFill>
                <a:latin typeface="Segoe UI" panose="020B0502040204020203" pitchFamily="34" charset="0"/>
              </a:rPr>
              <a:t>Tech Stack and Status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C8FE004E-2FBC-85B8-6000-83CCEFA180B9}"/>
              </a:ext>
            </a:extLst>
          </p:cNvPr>
          <p:cNvSpPr/>
          <p:nvPr/>
        </p:nvSpPr>
        <p:spPr>
          <a:xfrm>
            <a:off x="508000" y="1143000"/>
            <a:ext cx="5334000" cy="2286000"/>
          </a:xfrm>
          <a:prstGeom prst="roundRect">
            <a:avLst/>
          </a:prstGeom>
          <a:solidFill>
            <a:srgbClr val="D9EAF7"/>
          </a:solidFill>
          <a:ln w="15875">
            <a:solidFill>
              <a:srgbClr val="2980B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06F1FFB-2425-EC89-DA98-19F64D0EE115}"/>
              </a:ext>
            </a:extLst>
          </p:cNvPr>
          <p:cNvSpPr txBox="1"/>
          <p:nvPr/>
        </p:nvSpPr>
        <p:spPr>
          <a:xfrm>
            <a:off x="508000" y="1270000"/>
            <a:ext cx="5334000" cy="297517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pPr algn="ctr"/>
            <a:r>
              <a:rPr lang="en-US" sz="1600" b="1">
                <a:solidFill>
                  <a:srgbClr val="2980B9"/>
                </a:solidFill>
                <a:latin typeface="Segoe UI" panose="020B0502040204020203" pitchFamily="34" charset="0"/>
              </a:rPr>
              <a:t>Tech Used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AF1E08C-1E96-604D-C5DB-EFAE40FFF97B}"/>
              </a:ext>
            </a:extLst>
          </p:cNvPr>
          <p:cNvSpPr txBox="1"/>
          <p:nvPr/>
        </p:nvSpPr>
        <p:spPr>
          <a:xfrm>
            <a:off x="762000" y="1714500"/>
            <a:ext cx="4826000" cy="143885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US" sz="1350">
                <a:solidFill>
                  <a:srgbClr val="212121"/>
                </a:solidFill>
                <a:latin typeface="Segoe UI" panose="020B0502040204020203" pitchFamily="34" charset="0"/>
              </a:rPr>
              <a:t>Blazor Hybrid (.NET MAUI, .NET 10)</a:t>
            </a:r>
          </a:p>
          <a:p>
            <a:pPr>
              <a:spcAft>
                <a:spcPts val="600"/>
              </a:spcAft>
            </a:pPr>
            <a:r>
              <a:rPr lang="en-US" sz="1350">
                <a:solidFill>
                  <a:srgbClr val="212121"/>
                </a:solidFill>
                <a:latin typeface="Segoe UI" panose="020B0502040204020203" pitchFamily="34" charset="0"/>
              </a:rPr>
              <a:t>Razor Class Libraries for extensions</a:t>
            </a:r>
          </a:p>
          <a:p>
            <a:pPr>
              <a:spcAft>
                <a:spcPts val="600"/>
              </a:spcAft>
            </a:pPr>
            <a:r>
              <a:rPr lang="en-US" sz="1350">
                <a:solidFill>
                  <a:srgbClr val="212121"/>
                </a:solidFill>
                <a:latin typeface="Segoe UI" panose="020B0502040204020203" pitchFamily="34" charset="0"/>
              </a:rPr>
              <a:t>AssemblyLoadContext + AssemblyDependencyResolver</a:t>
            </a:r>
          </a:p>
          <a:p>
            <a:pPr>
              <a:spcAft>
                <a:spcPts val="600"/>
              </a:spcAft>
            </a:pPr>
            <a:r>
              <a:rPr lang="en-US" sz="1350">
                <a:solidFill>
                  <a:srgbClr val="212121"/>
                </a:solidFill>
                <a:latin typeface="Segoe UI" panose="020B0502040204020203" pitchFamily="34" charset="0"/>
              </a:rPr>
              <a:t>In-memory pub/sub event bus</a:t>
            </a:r>
          </a:p>
          <a:p>
            <a:pPr>
              <a:spcAft>
                <a:spcPts val="600"/>
              </a:spcAft>
            </a:pPr>
            <a:r>
              <a:rPr lang="en-US" sz="1350">
                <a:solidFill>
                  <a:srgbClr val="212121"/>
                </a:solidFill>
                <a:latin typeface="Segoe UI" panose="020B0502040204020203" pitchFamily="34" charset="0"/>
              </a:rPr>
              <a:t>System.Text.Json persistence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12BA16F3-601C-6690-042C-1823FE1AAA20}"/>
              </a:ext>
            </a:extLst>
          </p:cNvPr>
          <p:cNvSpPr/>
          <p:nvPr/>
        </p:nvSpPr>
        <p:spPr>
          <a:xfrm>
            <a:off x="6350000" y="1143000"/>
            <a:ext cx="5334000" cy="2286000"/>
          </a:xfrm>
          <a:prstGeom prst="roundRect">
            <a:avLst/>
          </a:prstGeom>
          <a:solidFill>
            <a:srgbClr val="FDDEBE"/>
          </a:solidFill>
          <a:ln w="15875">
            <a:solidFill>
              <a:srgbClr val="E67E2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55EA674-66BA-7D2E-C60D-1D3C82529DA8}"/>
              </a:ext>
            </a:extLst>
          </p:cNvPr>
          <p:cNvSpPr txBox="1"/>
          <p:nvPr/>
        </p:nvSpPr>
        <p:spPr>
          <a:xfrm>
            <a:off x="6350000" y="1270000"/>
            <a:ext cx="5334000" cy="297517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pPr algn="ctr"/>
            <a:r>
              <a:rPr lang="en-US" sz="1600" b="1">
                <a:solidFill>
                  <a:srgbClr val="E67E22"/>
                </a:solidFill>
                <a:latin typeface="Segoe UI" panose="020B0502040204020203" pitchFamily="34" charset="0"/>
              </a:rPr>
              <a:t>Phase 3 Status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C50E9D9-93E7-AC76-B749-CA3ADE350C86}"/>
              </a:ext>
            </a:extLst>
          </p:cNvPr>
          <p:cNvSpPr txBox="1"/>
          <p:nvPr/>
        </p:nvSpPr>
        <p:spPr>
          <a:xfrm>
            <a:off x="6604000" y="1714500"/>
            <a:ext cx="4826000" cy="115416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US" sz="1350">
                <a:solidFill>
                  <a:srgbClr val="212121"/>
                </a:solidFill>
                <a:latin typeface="Segoe UI" panose="020B0502040204020203" pitchFamily="34" charset="0"/>
              </a:rPr>
              <a:t>Runtime discovery + version selection - working</a:t>
            </a:r>
          </a:p>
          <a:p>
            <a:pPr>
              <a:spcAft>
                <a:spcPts val="600"/>
              </a:spcAft>
            </a:pPr>
            <a:r>
              <a:rPr lang="en-US" sz="1350">
                <a:solidFill>
                  <a:srgbClr val="212121"/>
                </a:solidFill>
                <a:latin typeface="Segoe UI" panose="020B0502040204020203" pitchFamily="34" charset="0"/>
              </a:rPr>
              <a:t>Per-plugin ALC isolation - working</a:t>
            </a:r>
          </a:p>
          <a:p>
            <a:pPr>
              <a:spcAft>
                <a:spcPts val="600"/>
              </a:spcAft>
            </a:pPr>
            <a:r>
              <a:rPr lang="en-US" sz="1350">
                <a:solidFill>
                  <a:srgbClr val="212121"/>
                </a:solidFill>
                <a:latin typeface="Segoe UI" panose="020B0502040204020203" pitchFamily="34" charset="0"/>
              </a:rPr>
              <a:t>Newtonsoft.Json + Markdig isolation - proven</a:t>
            </a:r>
          </a:p>
          <a:p>
            <a:pPr>
              <a:spcAft>
                <a:spcPts val="600"/>
              </a:spcAft>
            </a:pPr>
            <a:r>
              <a:rPr lang="en-US" sz="1350">
                <a:solidFill>
                  <a:srgbClr val="212121"/>
                </a:solidFill>
                <a:latin typeface="Segoe UI" panose="020B0502040204020203" pitchFamily="34" charset="0"/>
              </a:rPr>
              <a:t>Repeatable deploy + verify scripts - done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3116DDF1-4CE2-3E7D-86AC-9C54B23CF191}"/>
              </a:ext>
            </a:extLst>
          </p:cNvPr>
          <p:cNvSpPr/>
          <p:nvPr/>
        </p:nvSpPr>
        <p:spPr>
          <a:xfrm>
            <a:off x="508000" y="3683000"/>
            <a:ext cx="11430000" cy="2286000"/>
          </a:xfrm>
          <a:prstGeom prst="roundRect">
            <a:avLst/>
          </a:prstGeom>
          <a:solidFill>
            <a:srgbClr val="E2D6F0"/>
          </a:solidFill>
          <a:ln w="15875">
            <a:solidFill>
              <a:srgbClr val="8E44A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EC622DB-3AE8-67ED-58C2-BF4BA41DA1BF}"/>
              </a:ext>
            </a:extLst>
          </p:cNvPr>
          <p:cNvSpPr txBox="1"/>
          <p:nvPr/>
        </p:nvSpPr>
        <p:spPr>
          <a:xfrm>
            <a:off x="508000" y="3810000"/>
            <a:ext cx="11430000" cy="297517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pPr algn="ctr"/>
            <a:r>
              <a:rPr lang="en-US" sz="1600" b="1">
                <a:solidFill>
                  <a:srgbClr val="8E44AD"/>
                </a:solidFill>
                <a:latin typeface="Segoe UI" panose="020B0502040204020203" pitchFamily="34" charset="0"/>
              </a:rPr>
              <a:t>Next Steps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E575831-DEDC-E3DF-A0BD-FA02E8B7678B}"/>
              </a:ext>
            </a:extLst>
          </p:cNvPr>
          <p:cNvSpPr txBox="1"/>
          <p:nvPr/>
        </p:nvSpPr>
        <p:spPr>
          <a:xfrm>
            <a:off x="762000" y="4254500"/>
            <a:ext cx="10922000" cy="115416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US" sz="1350">
                <a:solidFill>
                  <a:srgbClr val="212121"/>
                </a:solidFill>
                <a:latin typeface="Segoe UI" panose="020B0502040204020203" pitchFamily="34" charset="0"/>
              </a:rPr>
              <a:t>Plugin signing + manifest validation before load</a:t>
            </a:r>
          </a:p>
          <a:p>
            <a:pPr>
              <a:spcAft>
                <a:spcPts val="600"/>
              </a:spcAft>
            </a:pPr>
            <a:r>
              <a:rPr lang="en-US" sz="1350">
                <a:solidFill>
                  <a:srgbClr val="212121"/>
                </a:solidFill>
                <a:latin typeface="Segoe UI" panose="020B0502040204020203" pitchFamily="34" charset="0"/>
              </a:rPr>
              <a:t>Optional build-time guard (no Host/Core references, no copy-local boundary DLLs)</a:t>
            </a:r>
          </a:p>
          <a:p>
            <a:pPr>
              <a:spcAft>
                <a:spcPts val="600"/>
              </a:spcAft>
            </a:pPr>
            <a:r>
              <a:rPr lang="en-US" sz="1350">
                <a:solidFill>
                  <a:srgbClr val="212121"/>
                </a:solidFill>
                <a:latin typeface="Segoe UI" panose="020B0502040204020203" pitchFamily="34" charset="0"/>
              </a:rPr>
              <a:t>Hot reload / unload story (ALC is collectible today)</a:t>
            </a:r>
          </a:p>
          <a:p>
            <a:pPr>
              <a:spcAft>
                <a:spcPts val="600"/>
              </a:spcAft>
            </a:pPr>
            <a:r>
              <a:rPr lang="en-US" sz="1350">
                <a:solidFill>
                  <a:srgbClr val="212121"/>
                </a:solidFill>
                <a:latin typeface="Segoe UI" panose="020B0502040204020203" pitchFamily="34" charset="0"/>
              </a:rPr>
              <a:t>Broaden isolation tests across more extensions and versions</a:t>
            </a:r>
          </a:p>
        </p:txBody>
      </p:sp>
    </p:spTree>
    <p:extLst>
      <p:ext uri="{BB962C8B-B14F-4D97-AF65-F5344CB8AC3E}">
        <p14:creationId xmlns:p14="http://schemas.microsoft.com/office/powerpoint/2010/main" val="200828076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1018</Words>
  <Application>Microsoft Office PowerPoint</Application>
  <PresentationFormat>Custom</PresentationFormat>
  <Paragraphs>147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Aptos</vt:lpstr>
      <vt:lpstr>Aptos Display</vt:lpstr>
      <vt:lpstr>Arial</vt:lpstr>
      <vt:lpstr>Segoe UI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Janveetha Reddy C</dc:creator>
  <cp:lastModifiedBy>Janveetha Reddy C</cp:lastModifiedBy>
  <cp:revision>1</cp:revision>
  <dcterms:created xsi:type="dcterms:W3CDTF">2026-07-28T07:56:58Z</dcterms:created>
  <dcterms:modified xsi:type="dcterms:W3CDTF">2026-07-28T07:56:58Z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9c8cda11-b0e0-4a5f-b13e-64e9de363f52_Enabled">
    <vt:lpwstr>true</vt:lpwstr>
  </property>
  <property fmtid="{D5CDD505-2E9C-101B-9397-08002B2CF9AE}" pid="3" name="MSIP_Label_9c8cda11-b0e0-4a5f-b13e-64e9de363f52_SetDate">
    <vt:lpwstr>2026-07-28T07:56:58Z</vt:lpwstr>
  </property>
  <property fmtid="{D5CDD505-2E9C-101B-9397-08002B2CF9AE}" pid="4" name="MSIP_Label_9c8cda11-b0e0-4a5f-b13e-64e9de363f52_Method">
    <vt:lpwstr>Standard</vt:lpwstr>
  </property>
  <property fmtid="{D5CDD505-2E9C-101B-9397-08002B2CF9AE}" pid="5" name="MSIP_Label_9c8cda11-b0e0-4a5f-b13e-64e9de363f52_Name">
    <vt:lpwstr>Internal Only</vt:lpwstr>
  </property>
  <property fmtid="{D5CDD505-2E9C-101B-9397-08002B2CF9AE}" pid="6" name="MSIP_Label_9c8cda11-b0e0-4a5f-b13e-64e9de363f52_SiteId">
    <vt:lpwstr>425a5546-5a6e-4f1b-ab62-23d91d07d893</vt:lpwstr>
  </property>
  <property fmtid="{D5CDD505-2E9C-101B-9397-08002B2CF9AE}" pid="7" name="MSIP_Label_9c8cda11-b0e0-4a5f-b13e-64e9de363f52_ActionId">
    <vt:lpwstr>400f58a8-92f0-4c12-b59d-f566fa0e568f</vt:lpwstr>
  </property>
  <property fmtid="{D5CDD505-2E9C-101B-9397-08002B2CF9AE}" pid="8" name="MSIP_Label_9c8cda11-b0e0-4a5f-b13e-64e9de363f52_ContentBits">
    <vt:lpwstr>0</vt:lpwstr>
  </property>
  <property fmtid="{D5CDD505-2E9C-101B-9397-08002B2CF9AE}" pid="9" name="MSIP_Label_9c8cda11-b0e0-4a5f-b13e-64e9de363f52_Tag">
    <vt:lpwstr>10, 3, 0, 1</vt:lpwstr>
  </property>
</Properties>
</file>